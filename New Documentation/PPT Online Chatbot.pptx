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975" y="624586"/>
            <a:ext cx="776605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69556"/>
            <a:ext cx="446405" cy="2788920"/>
          </a:xfrm>
          <a:custGeom>
            <a:avLst/>
            <a:gdLst/>
            <a:ahLst/>
            <a:cxnLst/>
            <a:rect l="l" t="t" r="r" b="b"/>
            <a:pathLst>
              <a:path w="446405" h="2788920">
                <a:moveTo>
                  <a:pt x="0" y="0"/>
                </a:moveTo>
                <a:lnTo>
                  <a:pt x="0" y="2788440"/>
                </a:lnTo>
                <a:lnTo>
                  <a:pt x="446150" y="2788440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141182" y="4188464"/>
            <a:ext cx="4003040" cy="2669540"/>
          </a:xfrm>
          <a:custGeom>
            <a:avLst/>
            <a:gdLst/>
            <a:ahLst/>
            <a:cxnLst/>
            <a:rect l="l" t="t" r="r" b="b"/>
            <a:pathLst>
              <a:path w="4003040" h="2669540">
                <a:moveTo>
                  <a:pt x="0" y="2669535"/>
                </a:moveTo>
                <a:lnTo>
                  <a:pt x="4002817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043801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96412" y="0"/>
            <a:ext cx="2247900" cy="6858000"/>
          </a:xfrm>
          <a:custGeom>
            <a:avLst/>
            <a:gdLst/>
            <a:ahLst/>
            <a:cxnLst/>
            <a:rect l="l" t="t" r="r" b="b"/>
            <a:pathLst>
              <a:path w="2247900" h="6858000">
                <a:moveTo>
                  <a:pt x="2021019" y="0"/>
                </a:moveTo>
                <a:lnTo>
                  <a:pt x="0" y="6857998"/>
                </a:lnTo>
                <a:lnTo>
                  <a:pt x="2247587" y="6857998"/>
                </a:lnTo>
                <a:lnTo>
                  <a:pt x="2247587" y="8143"/>
                </a:lnTo>
                <a:lnTo>
                  <a:pt x="2021019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212088" y="0"/>
            <a:ext cx="1932305" cy="6858000"/>
          </a:xfrm>
          <a:custGeom>
            <a:avLst/>
            <a:gdLst/>
            <a:ahLst/>
            <a:cxnLst/>
            <a:rect l="l" t="t" r="r" b="b"/>
            <a:pathLst>
              <a:path w="1932304" h="6858000">
                <a:moveTo>
                  <a:pt x="1931911" y="0"/>
                </a:moveTo>
                <a:lnTo>
                  <a:pt x="0" y="0"/>
                </a:lnTo>
                <a:lnTo>
                  <a:pt x="1197470" y="6857996"/>
                </a:lnTo>
                <a:lnTo>
                  <a:pt x="1931911" y="6857996"/>
                </a:lnTo>
                <a:lnTo>
                  <a:pt x="1931911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638926" y="3927865"/>
            <a:ext cx="2505075" cy="2930525"/>
          </a:xfrm>
          <a:custGeom>
            <a:avLst/>
            <a:gdLst/>
            <a:ahLst/>
            <a:cxnLst/>
            <a:rect l="l" t="t" r="r" b="b"/>
            <a:pathLst>
              <a:path w="2505075" h="2930525">
                <a:moveTo>
                  <a:pt x="2505073" y="0"/>
                </a:moveTo>
                <a:lnTo>
                  <a:pt x="0" y="2930133"/>
                </a:lnTo>
                <a:lnTo>
                  <a:pt x="2505073" y="2930133"/>
                </a:lnTo>
                <a:lnTo>
                  <a:pt x="2505073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012975" y="0"/>
            <a:ext cx="2131060" cy="6858000"/>
          </a:xfrm>
          <a:custGeom>
            <a:avLst/>
            <a:gdLst/>
            <a:ahLst/>
            <a:cxnLst/>
            <a:rect l="l" t="t" r="r" b="b"/>
            <a:pathLst>
              <a:path w="2131059" h="6858000">
                <a:moveTo>
                  <a:pt x="2131024" y="0"/>
                </a:moveTo>
                <a:lnTo>
                  <a:pt x="0" y="0"/>
                </a:lnTo>
                <a:lnTo>
                  <a:pt x="1854417" y="6857996"/>
                </a:lnTo>
                <a:lnTo>
                  <a:pt x="2131024" y="6849812"/>
                </a:lnTo>
                <a:lnTo>
                  <a:pt x="2131024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296275" y="0"/>
            <a:ext cx="847725" cy="6858000"/>
          </a:xfrm>
          <a:custGeom>
            <a:avLst/>
            <a:gdLst/>
            <a:ahLst/>
            <a:cxnLst/>
            <a:rect l="l" t="t" r="r" b="b"/>
            <a:pathLst>
              <a:path w="847725" h="6858000">
                <a:moveTo>
                  <a:pt x="847724" y="0"/>
                </a:moveTo>
                <a:lnTo>
                  <a:pt x="675844" y="0"/>
                </a:lnTo>
                <a:lnTo>
                  <a:pt x="0" y="6857996"/>
                </a:lnTo>
                <a:lnTo>
                  <a:pt x="847724" y="6857996"/>
                </a:lnTo>
                <a:lnTo>
                  <a:pt x="847724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078502" y="0"/>
            <a:ext cx="1065530" cy="6858000"/>
          </a:xfrm>
          <a:custGeom>
            <a:avLst/>
            <a:gdLst/>
            <a:ahLst/>
            <a:cxnLst/>
            <a:rect l="l" t="t" r="r" b="b"/>
            <a:pathLst>
              <a:path w="1065529" h="6858000">
                <a:moveTo>
                  <a:pt x="1051011" y="0"/>
                </a:moveTo>
                <a:lnTo>
                  <a:pt x="0" y="0"/>
                </a:lnTo>
                <a:lnTo>
                  <a:pt x="937354" y="6857996"/>
                </a:lnTo>
                <a:lnTo>
                  <a:pt x="1065244" y="6857996"/>
                </a:lnTo>
                <a:lnTo>
                  <a:pt x="1065403" y="6654290"/>
                </a:lnTo>
                <a:lnTo>
                  <a:pt x="1065353" y="6145194"/>
                </a:lnTo>
                <a:lnTo>
                  <a:pt x="1065113" y="5890730"/>
                </a:lnTo>
                <a:lnTo>
                  <a:pt x="1064659" y="5585439"/>
                </a:lnTo>
                <a:lnTo>
                  <a:pt x="1063930" y="5229344"/>
                </a:lnTo>
                <a:lnTo>
                  <a:pt x="1062730" y="4771611"/>
                </a:lnTo>
                <a:lnTo>
                  <a:pt x="1060269" y="4008902"/>
                </a:lnTo>
                <a:lnTo>
                  <a:pt x="1054878" y="2483663"/>
                </a:lnTo>
                <a:lnTo>
                  <a:pt x="1053323" y="1975153"/>
                </a:lnTo>
                <a:lnTo>
                  <a:pt x="1052285" y="1568264"/>
                </a:lnTo>
                <a:lnTo>
                  <a:pt x="1051572" y="1212157"/>
                </a:lnTo>
                <a:lnTo>
                  <a:pt x="1051136" y="906855"/>
                </a:lnTo>
                <a:lnTo>
                  <a:pt x="1050911" y="652381"/>
                </a:lnTo>
                <a:lnTo>
                  <a:pt x="1050871" y="194183"/>
                </a:lnTo>
                <a:lnTo>
                  <a:pt x="1051011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058150" y="4903849"/>
            <a:ext cx="1085850" cy="1954530"/>
          </a:xfrm>
          <a:custGeom>
            <a:avLst/>
            <a:gdLst/>
            <a:ahLst/>
            <a:cxnLst/>
            <a:rect l="l" t="t" r="r" b="b"/>
            <a:pathLst>
              <a:path w="1085850" h="1954529">
                <a:moveTo>
                  <a:pt x="1085849" y="0"/>
                </a:moveTo>
                <a:lnTo>
                  <a:pt x="0" y="1954149"/>
                </a:lnTo>
                <a:lnTo>
                  <a:pt x="1085849" y="1949111"/>
                </a:lnTo>
                <a:lnTo>
                  <a:pt x="1085849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8284" y="2589593"/>
            <a:ext cx="3567430" cy="94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3905" y="1203007"/>
            <a:ext cx="7739380" cy="441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097" y="18097"/>
            <a:ext cx="7891780" cy="6256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solidFill>
                <a:srgbClr val="001F5F"/>
              </a:solidFill>
              <a:latin typeface="Times New Roman"/>
              <a:cs typeface="Times New Roman"/>
            </a:endParaRPr>
          </a:p>
          <a:p>
            <a:pPr marR="3556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endParaRPr lang="en-IN" sz="1800" dirty="0">
              <a:latin typeface="Times New Roman"/>
              <a:cs typeface="Times New Roman"/>
            </a:endParaRPr>
          </a:p>
          <a:p>
            <a:pPr marL="3157855" marR="3193415" algn="ctr">
              <a:lnSpc>
                <a:spcPct val="100800"/>
              </a:lnSpc>
            </a:pPr>
            <a:r>
              <a:rPr lang="en-IN"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Presentation</a:t>
            </a:r>
            <a:endParaRPr lang="en-IN" sz="1800" dirty="0">
              <a:latin typeface="Times New Roman"/>
              <a:cs typeface="Times New Roman"/>
            </a:endParaRPr>
          </a:p>
          <a:p>
            <a:pPr marL="242570" algn="ctr">
              <a:lnSpc>
                <a:spcPts val="1835"/>
              </a:lnSpc>
              <a:spcBef>
                <a:spcPts val="20"/>
              </a:spcBef>
            </a:pP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on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4054"/>
              </a:lnSpc>
            </a:pPr>
            <a:r>
              <a:rPr sz="3650" spc="10" dirty="0">
                <a:solidFill>
                  <a:srgbClr val="001F5F"/>
                </a:solidFill>
                <a:latin typeface="Times New Roman"/>
                <a:cs typeface="Times New Roman"/>
              </a:rPr>
              <a:t>“Online</a:t>
            </a:r>
            <a:r>
              <a:rPr sz="3650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50" spc="20" dirty="0">
                <a:solidFill>
                  <a:srgbClr val="001F5F"/>
                </a:solidFill>
                <a:latin typeface="Times New Roman"/>
                <a:cs typeface="Times New Roman"/>
              </a:rPr>
              <a:t>Chatbot</a:t>
            </a:r>
            <a:r>
              <a:rPr sz="3650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001F5F"/>
                </a:solidFill>
                <a:latin typeface="Times New Roman"/>
                <a:cs typeface="Times New Roman"/>
              </a:rPr>
              <a:t>based</a:t>
            </a:r>
            <a:r>
              <a:rPr sz="365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50" dirty="0">
                <a:solidFill>
                  <a:srgbClr val="001F5F"/>
                </a:solidFill>
                <a:latin typeface="Times New Roman"/>
                <a:cs typeface="Times New Roman"/>
              </a:rPr>
              <a:t>Ticketing</a:t>
            </a:r>
            <a:r>
              <a:rPr sz="3650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50" spc="15" dirty="0">
                <a:solidFill>
                  <a:srgbClr val="001F5F"/>
                </a:solidFill>
                <a:latin typeface="Times New Roman"/>
                <a:cs typeface="Times New Roman"/>
              </a:rPr>
              <a:t>System”</a:t>
            </a:r>
            <a:endParaRPr sz="3650" dirty="0">
              <a:latin typeface="Times New Roman"/>
              <a:cs typeface="Times New Roman"/>
            </a:endParaRPr>
          </a:p>
          <a:p>
            <a:pPr marR="95250" algn="ctr">
              <a:lnSpc>
                <a:spcPct val="100000"/>
              </a:lnSpc>
              <a:spcBef>
                <a:spcPts val="720"/>
              </a:spcBef>
            </a:pPr>
            <a:r>
              <a:rPr sz="1550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Presented</a:t>
            </a:r>
            <a:r>
              <a:rPr sz="1550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i="1" spc="25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  <a:p>
            <a:pPr marL="2631440" marR="2721610" indent="-8890" algn="ctr">
              <a:lnSpc>
                <a:spcPct val="137200"/>
              </a:lnSpc>
              <a:spcBef>
                <a:spcPts val="5"/>
              </a:spcBef>
            </a:pP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Mr.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Shriyash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Amarnath 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Patil 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Mr.</a:t>
            </a:r>
            <a:r>
              <a:rPr sz="1550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Tanmay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Dinesh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 Nagawade</a:t>
            </a:r>
            <a:endParaRPr sz="1550" dirty="0">
              <a:latin typeface="Times New Roman"/>
              <a:cs typeface="Times New Roman"/>
            </a:endParaRPr>
          </a:p>
          <a:p>
            <a:pPr marR="99695" algn="ctr">
              <a:lnSpc>
                <a:spcPct val="100000"/>
              </a:lnSpc>
              <a:spcBef>
                <a:spcPts val="695"/>
              </a:spcBef>
            </a:pP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Mr.</a:t>
            </a:r>
            <a:r>
              <a:rPr sz="1550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Narendra</a:t>
            </a:r>
            <a:r>
              <a:rPr sz="155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Nanasaheb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Khamkar</a:t>
            </a:r>
            <a:endParaRPr sz="1550" dirty="0">
              <a:latin typeface="Times New Roman"/>
              <a:cs typeface="Times New Roman"/>
            </a:endParaRPr>
          </a:p>
          <a:p>
            <a:pPr marL="2646045" marR="2744470" algn="ctr">
              <a:lnSpc>
                <a:spcPts val="2550"/>
              </a:lnSpc>
              <a:spcBef>
                <a:spcPts val="130"/>
              </a:spcBef>
            </a:pP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Ms.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Vaishnavi</a:t>
            </a:r>
            <a:r>
              <a:rPr sz="155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Santosh</a:t>
            </a:r>
            <a:r>
              <a:rPr sz="1550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Gopale </a:t>
            </a:r>
            <a:r>
              <a:rPr sz="1550" spc="-3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Mr.</a:t>
            </a:r>
            <a:r>
              <a:rPr sz="1550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Suraj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Ramdas</a:t>
            </a:r>
            <a:r>
              <a:rPr sz="155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Pansare</a:t>
            </a: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R="96520" algn="ctr">
              <a:lnSpc>
                <a:spcPct val="100000"/>
              </a:lnSpc>
              <a:spcBef>
                <a:spcPts val="1090"/>
              </a:spcBef>
            </a:pPr>
            <a:r>
              <a:rPr sz="1550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Under</a:t>
            </a:r>
            <a:r>
              <a:rPr sz="1550" i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i="1" spc="20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550" i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guidance</a:t>
            </a:r>
            <a:r>
              <a:rPr sz="1550" i="1" spc="25" dirty="0">
                <a:solidFill>
                  <a:srgbClr val="001F5F"/>
                </a:solidFill>
                <a:latin typeface="Times New Roman"/>
                <a:cs typeface="Times New Roman"/>
              </a:rPr>
              <a:t> of</a:t>
            </a:r>
            <a:endParaRPr sz="1550" dirty="0">
              <a:latin typeface="Times New Roman"/>
              <a:cs typeface="Times New Roman"/>
            </a:endParaRPr>
          </a:p>
          <a:p>
            <a:pPr marR="95250" algn="ctr">
              <a:lnSpc>
                <a:spcPct val="100000"/>
              </a:lnSpc>
              <a:spcBef>
                <a:spcPts val="700"/>
              </a:spcBef>
            </a:pPr>
            <a:r>
              <a:rPr sz="1550" spc="-20" dirty="0">
                <a:solidFill>
                  <a:srgbClr val="001F5F"/>
                </a:solidFill>
                <a:latin typeface="Times New Roman"/>
                <a:cs typeface="Times New Roman"/>
              </a:rPr>
              <a:t>Dr.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Sofiya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Mujawar</a:t>
            </a:r>
            <a:endParaRPr sz="1550" dirty="0">
              <a:latin typeface="Times New Roman"/>
              <a:cs typeface="Times New Roman"/>
            </a:endParaRPr>
          </a:p>
          <a:p>
            <a:pPr marL="2153920" marR="2245995" algn="ctr">
              <a:lnSpc>
                <a:spcPts val="2550"/>
              </a:lnSpc>
              <a:spcBef>
                <a:spcPts val="125"/>
              </a:spcBef>
            </a:pP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Registration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No.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-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NCRISES2024-B-G048 </a:t>
            </a:r>
            <a:r>
              <a:rPr sz="1550" spc="-3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Department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1550" spc="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Information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Technology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School</a:t>
            </a:r>
            <a:r>
              <a:rPr sz="1550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1550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&amp;</a:t>
            </a:r>
            <a:r>
              <a:rPr sz="1550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Technology</a:t>
            </a:r>
            <a:endParaRPr sz="1550" dirty="0">
              <a:latin typeface="Times New Roman"/>
              <a:cs typeface="Times New Roman"/>
            </a:endParaRPr>
          </a:p>
          <a:p>
            <a:pPr marL="2882265" marR="2853690" indent="-123189">
              <a:lnSpc>
                <a:spcPts val="2630"/>
              </a:lnSpc>
              <a:spcBef>
                <a:spcPts val="285"/>
              </a:spcBef>
            </a:pPr>
            <a:r>
              <a:rPr sz="1550" spc="-40" dirty="0">
                <a:solidFill>
                  <a:srgbClr val="001F5F"/>
                </a:solidFill>
                <a:latin typeface="Times New Roman"/>
                <a:cs typeface="Times New Roman"/>
              </a:rPr>
              <a:t>D.Y.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Patil</a:t>
            </a:r>
            <a:r>
              <a:rPr sz="1550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University,</a:t>
            </a:r>
            <a:r>
              <a:rPr sz="155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Pune</a:t>
            </a:r>
            <a:r>
              <a:rPr sz="2150" spc="25" dirty="0">
                <a:solidFill>
                  <a:srgbClr val="001F5F"/>
                </a:solidFill>
                <a:latin typeface="Times New Roman"/>
                <a:cs typeface="Times New Roman"/>
              </a:rPr>
              <a:t>. </a:t>
            </a:r>
            <a:r>
              <a:rPr sz="2150" spc="-5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Academic</a:t>
            </a:r>
            <a:r>
              <a:rPr sz="1550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25" dirty="0">
                <a:solidFill>
                  <a:srgbClr val="001F5F"/>
                </a:solidFill>
                <a:latin typeface="Times New Roman"/>
                <a:cs typeface="Times New Roman"/>
              </a:rPr>
              <a:t>Year</a:t>
            </a:r>
            <a:r>
              <a:rPr sz="1550" spc="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2024-25.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02501" y="6142037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9525"/>
            <a:ext cx="2457450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00" y="228599"/>
            <a:ext cx="37699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5" dirty="0">
                <a:solidFill>
                  <a:srgbClr val="90C225"/>
                </a:solidFill>
              </a:rPr>
              <a:t>Presentation</a:t>
            </a:r>
            <a:r>
              <a:rPr sz="3600" spc="-85" dirty="0">
                <a:solidFill>
                  <a:srgbClr val="90C225"/>
                </a:solidFill>
              </a:rPr>
              <a:t> </a:t>
            </a:r>
            <a:r>
              <a:rPr sz="3600" dirty="0">
                <a:solidFill>
                  <a:srgbClr val="90C225"/>
                </a:solidFill>
              </a:rPr>
              <a:t>Outline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008380" y="1120457"/>
            <a:ext cx="4322445" cy="5017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Literature Survey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195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Methodology(Hardware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Software)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Schematic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185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Flowchart</a:t>
            </a:r>
            <a:r>
              <a:rPr sz="20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/Algorithm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195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Simulation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Results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15" dirty="0">
                <a:solidFill>
                  <a:srgbClr val="404040"/>
                </a:solidFill>
                <a:latin typeface="Times New Roman"/>
                <a:cs typeface="Times New Roman"/>
              </a:rPr>
              <a:t>(if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any)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185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185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Conclusions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"/>
            </a:pPr>
            <a:endParaRPr sz="195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buClr>
                <a:srgbClr val="000000"/>
              </a:buClr>
              <a:buSzPct val="77500"/>
              <a:buFont typeface="Wingdings"/>
              <a:buChar char=""/>
              <a:tabLst>
                <a:tab pos="527050" algn="l"/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2501" y="6142037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624586"/>
            <a:ext cx="228600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In</a:t>
            </a:r>
            <a:r>
              <a:rPr sz="3600" spc="-25" dirty="0">
                <a:solidFill>
                  <a:srgbClr val="90C225"/>
                </a:solidFill>
                <a:latin typeface="Times New Roman"/>
                <a:cs typeface="Times New Roman"/>
              </a:rPr>
              <a:t>t</a:t>
            </a: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rodu</a:t>
            </a:r>
            <a:r>
              <a:rPr sz="3600" spc="50" dirty="0">
                <a:solidFill>
                  <a:srgbClr val="90C225"/>
                </a:solidFill>
                <a:latin typeface="Times New Roman"/>
                <a:cs typeface="Times New Roman"/>
              </a:rPr>
              <a:t>c</a:t>
            </a:r>
            <a:r>
              <a:rPr sz="3600" spc="-25" dirty="0">
                <a:solidFill>
                  <a:srgbClr val="90C225"/>
                </a:solidFill>
                <a:latin typeface="Times New Roman"/>
                <a:cs typeface="Times New Roman"/>
              </a:rPr>
              <a:t>ti</a:t>
            </a: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8082" y="1974151"/>
            <a:ext cx="5994718" cy="111235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ctr">
              <a:lnSpc>
                <a:spcPct val="99100"/>
              </a:lnSpc>
              <a:spcBef>
                <a:spcPts val="120"/>
              </a:spcBef>
            </a:pP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project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aims 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design 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develop 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intelligent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ticketing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 using a </a:t>
            </a:r>
            <a:r>
              <a:rPr sz="1800" spc="-43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chatbot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interface.</a:t>
            </a:r>
            <a:r>
              <a:rPr sz="18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capable</a:t>
            </a:r>
            <a:r>
              <a:rPr sz="1800" spc="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understanding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queries,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providing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 information,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automating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ticketing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 processes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1800" y="6119177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4666" y="651510"/>
            <a:ext cx="36328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" dirty="0">
                <a:solidFill>
                  <a:srgbClr val="000000"/>
                </a:solidFill>
              </a:rPr>
              <a:t>Introduction</a:t>
            </a:r>
            <a:r>
              <a:rPr sz="2750" spc="20" dirty="0">
                <a:solidFill>
                  <a:srgbClr val="000000"/>
                </a:solidFill>
              </a:rPr>
              <a:t> </a:t>
            </a:r>
            <a:r>
              <a:rPr sz="2750" spc="15" dirty="0">
                <a:solidFill>
                  <a:srgbClr val="000000"/>
                </a:solidFill>
              </a:rPr>
              <a:t>(Cont’d…..)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2569845" y="1743075"/>
            <a:ext cx="811530" cy="3533775"/>
            <a:chOff x="2569845" y="1743075"/>
            <a:chExt cx="811530" cy="3533775"/>
          </a:xfrm>
        </p:grpSpPr>
        <p:sp>
          <p:nvSpPr>
            <p:cNvPr id="4" name="object 4"/>
            <p:cNvSpPr/>
            <p:nvPr/>
          </p:nvSpPr>
          <p:spPr>
            <a:xfrm>
              <a:off x="2733675" y="1743075"/>
              <a:ext cx="19050" cy="3533775"/>
            </a:xfrm>
            <a:custGeom>
              <a:avLst/>
              <a:gdLst/>
              <a:ahLst/>
              <a:cxnLst/>
              <a:rect l="l" t="t" r="r" b="b"/>
              <a:pathLst>
                <a:path w="19050" h="3533775">
                  <a:moveTo>
                    <a:pt x="14731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3529456"/>
                  </a:lnTo>
                  <a:lnTo>
                    <a:pt x="4318" y="3533775"/>
                  </a:lnTo>
                  <a:lnTo>
                    <a:pt x="14731" y="3533775"/>
                  </a:lnTo>
                  <a:lnTo>
                    <a:pt x="19050" y="3529456"/>
                  </a:lnTo>
                  <a:lnTo>
                    <a:pt x="19050" y="4317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000000">
                <a:alpha val="2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76550" y="2047875"/>
              <a:ext cx="504825" cy="19050"/>
            </a:xfrm>
            <a:custGeom>
              <a:avLst/>
              <a:gdLst/>
              <a:ahLst/>
              <a:cxnLst/>
              <a:rect l="l" t="t" r="r" b="b"/>
              <a:pathLst>
                <a:path w="504825" h="19050">
                  <a:moveTo>
                    <a:pt x="500507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14732"/>
                  </a:lnTo>
                  <a:lnTo>
                    <a:pt x="4318" y="19050"/>
                  </a:lnTo>
                  <a:lnTo>
                    <a:pt x="500507" y="19050"/>
                  </a:lnTo>
                  <a:lnTo>
                    <a:pt x="504825" y="14732"/>
                  </a:lnTo>
                  <a:lnTo>
                    <a:pt x="504825" y="4317"/>
                  </a:lnTo>
                  <a:lnTo>
                    <a:pt x="500507" y="0"/>
                  </a:lnTo>
                  <a:close/>
                </a:path>
              </a:pathLst>
            </a:custGeom>
            <a:solidFill>
              <a:srgbClr val="F1B4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1275" y="1905000"/>
              <a:ext cx="323850" cy="304800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17145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171450" y="304800"/>
                  </a:lnTo>
                  <a:lnTo>
                    <a:pt x="219632" y="297033"/>
                  </a:lnTo>
                  <a:lnTo>
                    <a:pt x="261469" y="275405"/>
                  </a:lnTo>
                  <a:lnTo>
                    <a:pt x="294455" y="242419"/>
                  </a:lnTo>
                  <a:lnTo>
                    <a:pt x="316083" y="200582"/>
                  </a:lnTo>
                  <a:lnTo>
                    <a:pt x="323850" y="152400"/>
                  </a:lnTo>
                  <a:lnTo>
                    <a:pt x="316083" y="104217"/>
                  </a:lnTo>
                  <a:lnTo>
                    <a:pt x="294455" y="62380"/>
                  </a:lnTo>
                  <a:lnTo>
                    <a:pt x="261469" y="29394"/>
                  </a:lnTo>
                  <a:lnTo>
                    <a:pt x="219632" y="7766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81275" y="1905000"/>
              <a:ext cx="323850" cy="304800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71450" y="0"/>
                  </a:lnTo>
                  <a:lnTo>
                    <a:pt x="219632" y="7766"/>
                  </a:lnTo>
                  <a:lnTo>
                    <a:pt x="261469" y="29394"/>
                  </a:lnTo>
                  <a:lnTo>
                    <a:pt x="294455" y="62380"/>
                  </a:lnTo>
                  <a:lnTo>
                    <a:pt x="316083" y="104217"/>
                  </a:lnTo>
                  <a:lnTo>
                    <a:pt x="323850" y="152400"/>
                  </a:lnTo>
                  <a:lnTo>
                    <a:pt x="316083" y="200582"/>
                  </a:lnTo>
                  <a:lnTo>
                    <a:pt x="294455" y="242419"/>
                  </a:lnTo>
                  <a:lnTo>
                    <a:pt x="261469" y="275405"/>
                  </a:lnTo>
                  <a:lnTo>
                    <a:pt x="219632" y="297033"/>
                  </a:lnTo>
                  <a:lnTo>
                    <a:pt x="171450" y="304800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22860">
              <a:solidFill>
                <a:srgbClr val="F1B4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76779" y="1899602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5128" y="1774126"/>
            <a:ext cx="3879850" cy="10775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50"/>
              </a:spcBef>
            </a:pPr>
            <a:r>
              <a:rPr sz="1400" spc="35" dirty="0">
                <a:latin typeface="Times New Roman"/>
                <a:cs typeface="Times New Roman"/>
              </a:rPr>
              <a:t>N</a:t>
            </a:r>
            <a:r>
              <a:rPr sz="1400" spc="-25" dirty="0">
                <a:latin typeface="Times New Roman"/>
                <a:cs typeface="Times New Roman"/>
              </a:rPr>
              <a:t>ee</a:t>
            </a:r>
            <a:r>
              <a:rPr sz="1400" spc="10" dirty="0">
                <a:latin typeface="Times New Roman"/>
                <a:cs typeface="Times New Roman"/>
              </a:rPr>
              <a:t>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f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5" dirty="0">
                <a:latin typeface="Times New Roman"/>
                <a:cs typeface="Times New Roman"/>
              </a:rPr>
              <a:t>r</a:t>
            </a:r>
            <a:r>
              <a:rPr sz="1400" spc="-150" dirty="0">
                <a:latin typeface="Times New Roman"/>
                <a:cs typeface="Times New Roman"/>
              </a:rPr>
              <a:t> </a:t>
            </a:r>
            <a:r>
              <a:rPr sz="1400" spc="35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u</a:t>
            </a:r>
            <a:r>
              <a:rPr sz="1400" spc="-15" dirty="0">
                <a:latin typeface="Times New Roman"/>
                <a:cs typeface="Times New Roman"/>
              </a:rPr>
              <a:t>t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40" dirty="0">
                <a:latin typeface="Times New Roman"/>
                <a:cs typeface="Times New Roman"/>
              </a:rPr>
              <a:t>m</a:t>
            </a:r>
            <a:r>
              <a:rPr sz="1400" spc="5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ti</a:t>
            </a:r>
            <a:r>
              <a:rPr sz="1400" spc="-30" dirty="0">
                <a:latin typeface="Times New Roman"/>
                <a:cs typeface="Times New Roman"/>
              </a:rPr>
              <a:t>o</a:t>
            </a:r>
            <a:r>
              <a:rPr sz="1400" spc="10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7300"/>
              </a:lnSpc>
              <a:spcBef>
                <a:spcPts val="540"/>
              </a:spcBef>
            </a:pPr>
            <a:r>
              <a:rPr sz="1400" spc="-10" dirty="0">
                <a:latin typeface="Times New Roman"/>
                <a:cs typeface="Times New Roman"/>
              </a:rPr>
              <a:t>Traditional </a:t>
            </a:r>
            <a:r>
              <a:rPr sz="1400" spc="-5" dirty="0">
                <a:latin typeface="Times New Roman"/>
                <a:cs typeface="Times New Roman"/>
              </a:rPr>
              <a:t>ticketing </a:t>
            </a:r>
            <a:r>
              <a:rPr sz="1400" dirty="0">
                <a:latin typeface="Times New Roman"/>
                <a:cs typeface="Times New Roman"/>
              </a:rPr>
              <a:t>systems often involve </a:t>
            </a:r>
            <a:r>
              <a:rPr sz="1400" spc="-10" dirty="0">
                <a:latin typeface="Times New Roman"/>
                <a:cs typeface="Times New Roman"/>
              </a:rPr>
              <a:t>manual 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which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can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30" dirty="0">
                <a:latin typeface="Times New Roman"/>
                <a:cs typeface="Times New Roman"/>
              </a:rPr>
              <a:t>be</a:t>
            </a:r>
            <a:r>
              <a:rPr sz="1400" spc="-5" dirty="0">
                <a:latin typeface="Times New Roman"/>
                <a:cs typeface="Times New Roman"/>
              </a:rPr>
              <a:t> time-consuming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and </a:t>
            </a:r>
            <a:r>
              <a:rPr sz="1400" spc="10" dirty="0">
                <a:latin typeface="Times New Roman"/>
                <a:cs typeface="Times New Roman"/>
              </a:rPr>
              <a:t>prone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errors.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69845" y="3036570"/>
            <a:ext cx="811530" cy="337185"/>
            <a:chOff x="2569845" y="3036570"/>
            <a:chExt cx="811530" cy="337185"/>
          </a:xfrm>
        </p:grpSpPr>
        <p:sp>
          <p:nvSpPr>
            <p:cNvPr id="11" name="object 11"/>
            <p:cNvSpPr/>
            <p:nvPr/>
          </p:nvSpPr>
          <p:spPr>
            <a:xfrm>
              <a:off x="2876550" y="3200400"/>
              <a:ext cx="504825" cy="19050"/>
            </a:xfrm>
            <a:custGeom>
              <a:avLst/>
              <a:gdLst/>
              <a:ahLst/>
              <a:cxnLst/>
              <a:rect l="l" t="t" r="r" b="b"/>
              <a:pathLst>
                <a:path w="504825" h="19050">
                  <a:moveTo>
                    <a:pt x="500507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14732"/>
                  </a:lnTo>
                  <a:lnTo>
                    <a:pt x="4318" y="19050"/>
                  </a:lnTo>
                  <a:lnTo>
                    <a:pt x="500507" y="19050"/>
                  </a:lnTo>
                  <a:lnTo>
                    <a:pt x="504825" y="14732"/>
                  </a:lnTo>
                  <a:lnTo>
                    <a:pt x="504825" y="4317"/>
                  </a:lnTo>
                  <a:lnTo>
                    <a:pt x="500507" y="0"/>
                  </a:lnTo>
                  <a:close/>
                </a:path>
              </a:pathLst>
            </a:custGeom>
            <a:solidFill>
              <a:srgbClr val="D642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81275" y="3048000"/>
              <a:ext cx="323850" cy="314325"/>
            </a:xfrm>
            <a:custGeom>
              <a:avLst/>
              <a:gdLst/>
              <a:ahLst/>
              <a:cxnLst/>
              <a:rect l="l" t="t" r="r" b="b"/>
              <a:pathLst>
                <a:path w="323850" h="314325">
                  <a:moveTo>
                    <a:pt x="166750" y="0"/>
                  </a:moveTo>
                  <a:lnTo>
                    <a:pt x="157225" y="0"/>
                  </a:ln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166750" y="314325"/>
                  </a:lnTo>
                  <a:lnTo>
                    <a:pt x="216397" y="306312"/>
                  </a:lnTo>
                  <a:lnTo>
                    <a:pt x="259521" y="283999"/>
                  </a:lnTo>
                  <a:lnTo>
                    <a:pt x="293532" y="249969"/>
                  </a:lnTo>
                  <a:lnTo>
                    <a:pt x="315838" y="206807"/>
                  </a:lnTo>
                  <a:lnTo>
                    <a:pt x="323850" y="157099"/>
                  </a:lnTo>
                  <a:lnTo>
                    <a:pt x="315838" y="107452"/>
                  </a:lnTo>
                  <a:lnTo>
                    <a:pt x="293532" y="64328"/>
                  </a:lnTo>
                  <a:lnTo>
                    <a:pt x="259521" y="30317"/>
                  </a:lnTo>
                  <a:lnTo>
                    <a:pt x="216397" y="8011"/>
                  </a:lnTo>
                  <a:lnTo>
                    <a:pt x="166750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81275" y="3048000"/>
              <a:ext cx="323850" cy="314325"/>
            </a:xfrm>
            <a:custGeom>
              <a:avLst/>
              <a:gdLst/>
              <a:ahLst/>
              <a:cxnLst/>
              <a:rect l="l" t="t" r="r" b="b"/>
              <a:pathLst>
                <a:path w="323850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166750" y="0"/>
                  </a:lnTo>
                  <a:lnTo>
                    <a:pt x="216397" y="8011"/>
                  </a:lnTo>
                  <a:lnTo>
                    <a:pt x="259521" y="30317"/>
                  </a:lnTo>
                  <a:lnTo>
                    <a:pt x="293532" y="64328"/>
                  </a:lnTo>
                  <a:lnTo>
                    <a:pt x="315838" y="107452"/>
                  </a:lnTo>
                  <a:lnTo>
                    <a:pt x="323850" y="157099"/>
                  </a:lnTo>
                  <a:lnTo>
                    <a:pt x="315838" y="206807"/>
                  </a:lnTo>
                  <a:lnTo>
                    <a:pt x="293532" y="249969"/>
                  </a:lnTo>
                  <a:lnTo>
                    <a:pt x="259521" y="283999"/>
                  </a:lnTo>
                  <a:lnTo>
                    <a:pt x="216397" y="306312"/>
                  </a:lnTo>
                  <a:lnTo>
                    <a:pt x="166750" y="314325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22860">
              <a:solidFill>
                <a:srgbClr val="D642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76779" y="3052127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45128" y="2926651"/>
            <a:ext cx="3759200" cy="10775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750"/>
              </a:spcBef>
            </a:pPr>
            <a:r>
              <a:rPr sz="1400" spc="-5" dirty="0">
                <a:latin typeface="Times New Roman"/>
                <a:cs typeface="Times New Roman"/>
              </a:rPr>
              <a:t>Enhanced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20" dirty="0">
                <a:latin typeface="Times New Roman"/>
                <a:cs typeface="Times New Roman"/>
              </a:rPr>
              <a:t>User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Experience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7300"/>
              </a:lnSpc>
              <a:spcBef>
                <a:spcPts val="540"/>
              </a:spcBef>
            </a:pPr>
            <a:r>
              <a:rPr sz="1400" spc="15" dirty="0">
                <a:latin typeface="Times New Roman"/>
                <a:cs typeface="Times New Roman"/>
              </a:rPr>
              <a:t>A</a:t>
            </a:r>
            <a:r>
              <a:rPr sz="1400" spc="-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chatbot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interface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can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more</a:t>
            </a:r>
            <a:r>
              <a:rPr sz="1400" spc="-5" dirty="0">
                <a:latin typeface="Times New Roman"/>
                <a:cs typeface="Times New Roman"/>
              </a:rPr>
              <a:t> user-friendly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experience, allowing customers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spc="5" dirty="0">
                <a:latin typeface="Times New Roman"/>
                <a:cs typeface="Times New Roman"/>
              </a:rPr>
              <a:t>access </a:t>
            </a:r>
            <a:r>
              <a:rPr sz="1400" spc="-5" dirty="0">
                <a:latin typeface="Times New Roman"/>
                <a:cs typeface="Times New Roman"/>
              </a:rPr>
              <a:t>ticketing </a:t>
            </a:r>
            <a:r>
              <a:rPr sz="1400" dirty="0">
                <a:latin typeface="Times New Roman"/>
                <a:cs typeface="Times New Roman"/>
              </a:rPr>
              <a:t> services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easily.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69845" y="4417695"/>
            <a:ext cx="811530" cy="327660"/>
            <a:chOff x="2569845" y="4417695"/>
            <a:chExt cx="811530" cy="327660"/>
          </a:xfrm>
        </p:grpSpPr>
        <p:sp>
          <p:nvSpPr>
            <p:cNvPr id="17" name="object 17"/>
            <p:cNvSpPr/>
            <p:nvPr/>
          </p:nvSpPr>
          <p:spPr>
            <a:xfrm>
              <a:off x="2876550" y="4572000"/>
              <a:ext cx="504825" cy="19050"/>
            </a:xfrm>
            <a:custGeom>
              <a:avLst/>
              <a:gdLst/>
              <a:ahLst/>
              <a:cxnLst/>
              <a:rect l="l" t="t" r="r" b="b"/>
              <a:pathLst>
                <a:path w="504825" h="19050">
                  <a:moveTo>
                    <a:pt x="500507" y="0"/>
                  </a:moveTo>
                  <a:lnTo>
                    <a:pt x="4318" y="0"/>
                  </a:lnTo>
                  <a:lnTo>
                    <a:pt x="0" y="4318"/>
                  </a:lnTo>
                  <a:lnTo>
                    <a:pt x="0" y="9525"/>
                  </a:lnTo>
                  <a:lnTo>
                    <a:pt x="0" y="14731"/>
                  </a:lnTo>
                  <a:lnTo>
                    <a:pt x="4318" y="19050"/>
                  </a:lnTo>
                  <a:lnTo>
                    <a:pt x="500507" y="19050"/>
                  </a:lnTo>
                  <a:lnTo>
                    <a:pt x="504825" y="14731"/>
                  </a:lnTo>
                  <a:lnTo>
                    <a:pt x="504825" y="4318"/>
                  </a:lnTo>
                  <a:lnTo>
                    <a:pt x="500507" y="0"/>
                  </a:lnTo>
                  <a:close/>
                </a:path>
              </a:pathLst>
            </a:custGeom>
            <a:solidFill>
              <a:srgbClr val="DD7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81275" y="4429125"/>
              <a:ext cx="323850" cy="304800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17145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7766" y="200582"/>
                  </a:lnTo>
                  <a:lnTo>
                    <a:pt x="29394" y="242419"/>
                  </a:lnTo>
                  <a:lnTo>
                    <a:pt x="62380" y="275405"/>
                  </a:lnTo>
                  <a:lnTo>
                    <a:pt x="104217" y="297033"/>
                  </a:lnTo>
                  <a:lnTo>
                    <a:pt x="152400" y="304800"/>
                  </a:lnTo>
                  <a:lnTo>
                    <a:pt x="171450" y="304800"/>
                  </a:lnTo>
                  <a:lnTo>
                    <a:pt x="219632" y="297033"/>
                  </a:lnTo>
                  <a:lnTo>
                    <a:pt x="261469" y="275405"/>
                  </a:lnTo>
                  <a:lnTo>
                    <a:pt x="294455" y="242419"/>
                  </a:lnTo>
                  <a:lnTo>
                    <a:pt x="316083" y="200582"/>
                  </a:lnTo>
                  <a:lnTo>
                    <a:pt x="323850" y="152400"/>
                  </a:lnTo>
                  <a:lnTo>
                    <a:pt x="316083" y="104217"/>
                  </a:lnTo>
                  <a:lnTo>
                    <a:pt x="294455" y="62380"/>
                  </a:lnTo>
                  <a:lnTo>
                    <a:pt x="261469" y="29394"/>
                  </a:lnTo>
                  <a:lnTo>
                    <a:pt x="219632" y="7766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81275" y="4429125"/>
              <a:ext cx="323850" cy="304800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71450" y="0"/>
                  </a:lnTo>
                  <a:lnTo>
                    <a:pt x="219632" y="7766"/>
                  </a:lnTo>
                  <a:lnTo>
                    <a:pt x="261469" y="29394"/>
                  </a:lnTo>
                  <a:lnTo>
                    <a:pt x="294455" y="62380"/>
                  </a:lnTo>
                  <a:lnTo>
                    <a:pt x="316083" y="104217"/>
                  </a:lnTo>
                  <a:lnTo>
                    <a:pt x="323850" y="152400"/>
                  </a:lnTo>
                  <a:lnTo>
                    <a:pt x="316083" y="200582"/>
                  </a:lnTo>
                  <a:lnTo>
                    <a:pt x="294455" y="242419"/>
                  </a:lnTo>
                  <a:lnTo>
                    <a:pt x="261469" y="275405"/>
                  </a:lnTo>
                  <a:lnTo>
                    <a:pt x="219632" y="297033"/>
                  </a:lnTo>
                  <a:lnTo>
                    <a:pt x="171450" y="304800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22860">
              <a:solidFill>
                <a:srgbClr val="DD7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76779" y="4428807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45128" y="4300029"/>
            <a:ext cx="3850004" cy="852169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65"/>
              </a:spcBef>
            </a:pPr>
            <a:r>
              <a:rPr sz="1400" dirty="0">
                <a:latin typeface="Times New Roman"/>
                <a:cs typeface="Times New Roman"/>
              </a:rPr>
              <a:t>Real-time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Support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7300"/>
              </a:lnSpc>
              <a:spcBef>
                <a:spcPts val="550"/>
              </a:spcBef>
            </a:pPr>
            <a:r>
              <a:rPr sz="1400" spc="10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chatbot </a:t>
            </a:r>
            <a:r>
              <a:rPr sz="1400" spc="10" dirty="0">
                <a:latin typeface="Times New Roman"/>
                <a:cs typeface="Times New Roman"/>
              </a:rPr>
              <a:t>can </a:t>
            </a:r>
            <a:r>
              <a:rPr sz="1400" dirty="0">
                <a:latin typeface="Times New Roman"/>
                <a:cs typeface="Times New Roman"/>
              </a:rPr>
              <a:t>provide </a:t>
            </a:r>
            <a:r>
              <a:rPr sz="1400" spc="-10" dirty="0">
                <a:latin typeface="Times New Roman"/>
                <a:cs typeface="Times New Roman"/>
              </a:rPr>
              <a:t>instant </a:t>
            </a:r>
            <a:r>
              <a:rPr sz="1400" dirty="0">
                <a:latin typeface="Times New Roman"/>
                <a:cs typeface="Times New Roman"/>
              </a:rPr>
              <a:t>support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spc="5" dirty="0">
                <a:latin typeface="Times New Roman"/>
                <a:cs typeface="Times New Roman"/>
              </a:rPr>
              <a:t>users, 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inquiries </a:t>
            </a:r>
            <a:r>
              <a:rPr sz="1400" spc="-15" dirty="0">
                <a:latin typeface="Times New Roman"/>
                <a:cs typeface="Times New Roman"/>
              </a:rPr>
              <a:t>and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resolving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issues in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real-time.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02501" y="6142037"/>
            <a:ext cx="83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829" y="0"/>
            <a:ext cx="238633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15" dirty="0">
                <a:solidFill>
                  <a:srgbClr val="000000"/>
                </a:solidFill>
              </a:rPr>
              <a:t>Literature</a:t>
            </a:r>
            <a:r>
              <a:rPr sz="2750" spc="-135" dirty="0">
                <a:solidFill>
                  <a:srgbClr val="000000"/>
                </a:solidFill>
              </a:rPr>
              <a:t> </a:t>
            </a:r>
            <a:r>
              <a:rPr sz="2450" spc="-5" dirty="0">
                <a:solidFill>
                  <a:srgbClr val="000000"/>
                </a:solidFill>
              </a:rPr>
              <a:t>Survey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815201" y="6160222"/>
            <a:ext cx="58419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40"/>
              </a:lnSpc>
            </a:pP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500" y="552450"/>
          <a:ext cx="8570595" cy="6299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490855" marR="214629" indent="-267335">
                        <a:lnSpc>
                          <a:spcPct val="100800"/>
                        </a:lnSpc>
                        <a:spcBef>
                          <a:spcPts val="275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spc="-1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113030" marR="92075" indent="488950">
                        <a:lnSpc>
                          <a:spcPct val="100800"/>
                        </a:lnSpc>
                        <a:spcBef>
                          <a:spcPts val="27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601345" marR="102870" indent="-476884">
                        <a:lnSpc>
                          <a:spcPct val="100800"/>
                        </a:lnSpc>
                        <a:spcBef>
                          <a:spcPts val="27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tat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  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1135">
                        <a:lnSpc>
                          <a:spcPct val="999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Keystroke- Level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 Evaluate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Chatbot Interface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Reservation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40970">
                        <a:lnSpc>
                          <a:spcPct val="1006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Literature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review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architectures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customer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support. Comparison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frameworks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Dialog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flow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Rasa.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2324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Provides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high-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overview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automating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ticket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creation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management 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customer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37160">
                        <a:lnSpc>
                          <a:spcPct val="100099"/>
                        </a:lnSpc>
                        <a:spcBef>
                          <a:spcPts val="32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detailed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 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n and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real-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world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application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2019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85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8755">
                        <a:lnSpc>
                          <a:spcPct val="999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 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 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  Case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Study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346075">
                        <a:lnSpc>
                          <a:spcPct val="100099"/>
                        </a:lnSpc>
                        <a:spcBef>
                          <a:spcPts val="34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AI-driven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implementation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automating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help desk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functions,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including ticket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generation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query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resolution.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156845">
                        <a:lnSpc>
                          <a:spcPct val="998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  classifying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routing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tickets, improving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ticket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handling.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299085">
                        <a:lnSpc>
                          <a:spcPct val="100099"/>
                        </a:lnSpc>
                        <a:spcBef>
                          <a:spcPts val="345"/>
                        </a:spcBef>
                      </a:pPr>
                      <a:r>
                        <a:rPr sz="1400" spc="2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interface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ts val="165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790" marR="183515">
                        <a:lnSpc>
                          <a:spcPts val="1650"/>
                        </a:lnSpc>
                        <a:spcBef>
                          <a:spcPts val="12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ticket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2019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886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2555">
                        <a:lnSpc>
                          <a:spcPct val="99900"/>
                        </a:lnSpc>
                        <a:spcBef>
                          <a:spcPts val="370"/>
                        </a:spcBef>
                      </a:pPr>
                      <a:r>
                        <a:rPr sz="1400" spc="5" dirty="0">
                          <a:latin typeface="Times New Roman"/>
                          <a:cs typeface="Times New Roman"/>
                        </a:rPr>
                        <a:t>Design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  booking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system using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smart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bot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219075">
                        <a:lnSpc>
                          <a:spcPct val="100600"/>
                        </a:lnSpc>
                        <a:spcBef>
                          <a:spcPts val="355"/>
                        </a:spcBef>
                      </a:pPr>
                      <a:r>
                        <a:rPr sz="1400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use 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website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 respond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user’s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queries.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instance,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in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messenger,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3980" marR="124460">
                        <a:lnSpc>
                          <a:spcPts val="1650"/>
                        </a:lnSpc>
                        <a:spcBef>
                          <a:spcPts val="55"/>
                        </a:spcBef>
                      </a:pP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telegram bot.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it is going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as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input.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once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116839">
                        <a:lnSpc>
                          <a:spcPct val="99900"/>
                        </a:lnSpc>
                        <a:spcBef>
                          <a:spcPts val="37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Provides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complete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framework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design 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deployment,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focus 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real-time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ticket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handling.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267970">
                        <a:lnSpc>
                          <a:spcPct val="99900"/>
                        </a:lnSpc>
                        <a:spcBef>
                          <a:spcPts val="37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Primarily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focused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extensive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spc="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2026" y="6171258"/>
            <a:ext cx="60325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5"/>
              </a:lnSpc>
            </a:pPr>
            <a:r>
              <a:rPr sz="900" dirty="0">
                <a:solidFill>
                  <a:srgbClr val="90C225"/>
                </a:solidFill>
                <a:latin typeface="Trebuchet MS"/>
                <a:cs typeface="Trebuchet MS"/>
              </a:rPr>
              <a:t>6</a:t>
            </a:r>
            <a:endParaRPr sz="9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3037" y="57150"/>
          <a:ext cx="8785858" cy="6794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464820" marR="189230" indent="-267335">
                        <a:lnSpc>
                          <a:spcPct val="100899"/>
                        </a:lnSpc>
                        <a:spcBef>
                          <a:spcPts val="265"/>
                        </a:spcBef>
                      </a:pP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spc="-1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160655" indent="489584">
                        <a:lnSpc>
                          <a:spcPct val="100899"/>
                        </a:lnSpc>
                        <a:spcBef>
                          <a:spcPts val="26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spc="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b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0C2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5730">
                        <a:lnSpc>
                          <a:spcPct val="100200"/>
                        </a:lnSpc>
                        <a:spcBef>
                          <a:spcPts val="31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Proposing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Tourism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employing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wisdom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crowds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building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methodology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used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study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was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quantitative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main activity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was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conducting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online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questionnaires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closed-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ended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questions.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sampling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method was 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non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probabilistic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n=40 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attempt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90805">
                        <a:lnSpc>
                          <a:spcPct val="1002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Detailed insights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chatbots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ticket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handling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customer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processes.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90805">
                        <a:lnSpc>
                          <a:spcPct val="100600"/>
                        </a:lnSpc>
                        <a:spcBef>
                          <a:spcPts val="309"/>
                        </a:spcBef>
                      </a:pPr>
                      <a:r>
                        <a:rPr sz="1400" spc="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case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study,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generalizability 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other industries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limited.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841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5.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6680">
                        <a:lnSpc>
                          <a:spcPct val="100600"/>
                        </a:lnSpc>
                        <a:spcBef>
                          <a:spcPts val="33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Enhanced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Opened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400" spc="4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spc="3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  chatbot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conceptual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framework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18110">
                        <a:lnSpc>
                          <a:spcPct val="100099"/>
                        </a:lnSpc>
                        <a:spcBef>
                          <a:spcPts val="340"/>
                        </a:spcBef>
                      </a:pPr>
                      <a:r>
                        <a:rPr sz="1400" spc="5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proposed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system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will make use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400" spc="15" dirty="0">
                          <a:latin typeface="Trebuchet MS"/>
                          <a:cs typeface="Trebuchet MS"/>
                        </a:rPr>
                        <a:t>bot 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ch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 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Chatbots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Multinomial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Naive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Bayes </a:t>
                      </a:r>
                      <a:r>
                        <a:rPr sz="1400" spc="-4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algorithm.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rule-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bot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completes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scripted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actions based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on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keywords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guided </a:t>
                      </a:r>
                      <a:r>
                        <a:rPr sz="1400" spc="-40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decision</a:t>
                      </a:r>
                      <a:r>
                        <a:rPr sz="1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tree,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list </a:t>
                      </a:r>
                      <a:r>
                        <a:rPr sz="1400" spc="-4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predefined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options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leading 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desired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response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provided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learner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91440">
                        <a:lnSpc>
                          <a:spcPct val="99800"/>
                        </a:lnSpc>
                        <a:spcBef>
                          <a:spcPts val="345"/>
                        </a:spcBef>
                      </a:pP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se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4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5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solutions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reduce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human 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intervention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in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help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desk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ticketing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4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automate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ticket 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lifecycle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processes.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86360">
                        <a:lnSpc>
                          <a:spcPct val="1006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IT-specific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help desk automation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generalization </a:t>
                      </a:r>
                      <a:r>
                        <a:rPr sz="1400" spc="-3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to other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2022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6.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05435">
                        <a:lnSpc>
                          <a:spcPct val="1006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4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  based Ticket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System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203835">
                        <a:lnSpc>
                          <a:spcPct val="99900"/>
                        </a:lnSpc>
                        <a:spcBef>
                          <a:spcPts val="37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sz="14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section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discusses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about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methodology </a:t>
                      </a:r>
                      <a:r>
                        <a:rPr sz="1400" spc="-4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used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developing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400" spc="-40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proposed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system.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The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3980">
                        <a:lnSpc>
                          <a:spcPts val="1145"/>
                        </a:lnSpc>
                        <a:spcBef>
                          <a:spcPts val="50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methodology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chosen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is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19380">
                        <a:lnSpc>
                          <a:spcPct val="99900"/>
                        </a:lnSpc>
                        <a:spcBef>
                          <a:spcPts val="375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Highlights user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experience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challenges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3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4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10" dirty="0">
                          <a:latin typeface="Trebuchet MS"/>
                          <a:cs typeface="Trebuchet MS"/>
                        </a:rPr>
                        <a:t>using </a:t>
                      </a:r>
                      <a:r>
                        <a:rPr sz="1400" spc="-4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chatbots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IT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5885">
                        <a:lnSpc>
                          <a:spcPts val="1145"/>
                        </a:lnSpc>
                        <a:spcBef>
                          <a:spcPts val="50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ticketing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63830">
                        <a:lnSpc>
                          <a:spcPct val="99900"/>
                        </a:lnSpc>
                        <a:spcBef>
                          <a:spcPts val="375"/>
                        </a:spcBef>
                      </a:pPr>
                      <a:r>
                        <a:rPr sz="1400" spc="-5" dirty="0">
                          <a:latin typeface="Trebuchet MS"/>
                          <a:cs typeface="Trebuchet MS"/>
                        </a:rPr>
                        <a:t>Limited scope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chatbot</a:t>
                      </a:r>
                      <a:r>
                        <a:rPr sz="1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functions— </a:t>
                      </a:r>
                      <a:r>
                        <a:rPr sz="1400" spc="-4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focused mainly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usability</a:t>
                      </a:r>
                      <a:r>
                        <a:rPr sz="14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rather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97790">
                        <a:lnSpc>
                          <a:spcPts val="1145"/>
                        </a:lnSpc>
                        <a:spcBef>
                          <a:spcPts val="5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" dirty="0">
                          <a:latin typeface="Trebuchet MS"/>
                          <a:cs typeface="Trebuchet MS"/>
                        </a:rPr>
                        <a:t>full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" dirty="0">
                          <a:latin typeface="Trebuchet MS"/>
                          <a:cs typeface="Trebuchet MS"/>
                        </a:rPr>
                        <a:t>integration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400" spc="10" dirty="0">
                          <a:latin typeface="Trebuchet MS"/>
                          <a:cs typeface="Trebuchet MS"/>
                        </a:rPr>
                        <a:t>2024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1182" y="4188464"/>
            <a:ext cx="4003040" cy="2669540"/>
          </a:xfrm>
          <a:custGeom>
            <a:avLst/>
            <a:gdLst/>
            <a:ahLst/>
            <a:cxnLst/>
            <a:rect l="l" t="t" r="r" b="b"/>
            <a:pathLst>
              <a:path w="4003040" h="2669540">
                <a:moveTo>
                  <a:pt x="0" y="2669535"/>
                </a:moveTo>
                <a:lnTo>
                  <a:pt x="4002817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638926" y="0"/>
            <a:ext cx="2505075" cy="6863080"/>
            <a:chOff x="6638926" y="0"/>
            <a:chExt cx="2505075" cy="6863080"/>
          </a:xfrm>
        </p:grpSpPr>
        <p:sp>
          <p:nvSpPr>
            <p:cNvPr id="4" name="object 4"/>
            <p:cNvSpPr/>
            <p:nvPr/>
          </p:nvSpPr>
          <p:spPr>
            <a:xfrm>
              <a:off x="7043801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96412" y="0"/>
              <a:ext cx="2247900" cy="6858000"/>
            </a:xfrm>
            <a:custGeom>
              <a:avLst/>
              <a:gdLst/>
              <a:ahLst/>
              <a:cxnLst/>
              <a:rect l="l" t="t" r="r" b="b"/>
              <a:pathLst>
                <a:path w="2247900" h="6858000">
                  <a:moveTo>
                    <a:pt x="2021019" y="0"/>
                  </a:moveTo>
                  <a:lnTo>
                    <a:pt x="0" y="6857998"/>
                  </a:lnTo>
                  <a:lnTo>
                    <a:pt x="2247587" y="6857998"/>
                  </a:lnTo>
                  <a:lnTo>
                    <a:pt x="2247587" y="8143"/>
                  </a:lnTo>
                  <a:lnTo>
                    <a:pt x="2021019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12088" y="0"/>
              <a:ext cx="1932305" cy="6858000"/>
            </a:xfrm>
            <a:custGeom>
              <a:avLst/>
              <a:gdLst/>
              <a:ahLst/>
              <a:cxnLst/>
              <a:rect l="l" t="t" r="r" b="b"/>
              <a:pathLst>
                <a:path w="1932304" h="6858000">
                  <a:moveTo>
                    <a:pt x="1931911" y="0"/>
                  </a:moveTo>
                  <a:lnTo>
                    <a:pt x="0" y="0"/>
                  </a:lnTo>
                  <a:lnTo>
                    <a:pt x="1197470" y="6857996"/>
                  </a:lnTo>
                  <a:lnTo>
                    <a:pt x="1931911" y="6857996"/>
                  </a:lnTo>
                  <a:lnTo>
                    <a:pt x="1931911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38926" y="3927865"/>
              <a:ext cx="2505075" cy="2930525"/>
            </a:xfrm>
            <a:custGeom>
              <a:avLst/>
              <a:gdLst/>
              <a:ahLst/>
              <a:cxnLst/>
              <a:rect l="l" t="t" r="r" b="b"/>
              <a:pathLst>
                <a:path w="2505075" h="2930525">
                  <a:moveTo>
                    <a:pt x="2505073" y="0"/>
                  </a:moveTo>
                  <a:lnTo>
                    <a:pt x="0" y="2930133"/>
                  </a:lnTo>
                  <a:lnTo>
                    <a:pt x="2505073" y="2930133"/>
                  </a:lnTo>
                  <a:lnTo>
                    <a:pt x="2505073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12975" y="0"/>
              <a:ext cx="2131060" cy="6858000"/>
            </a:xfrm>
            <a:custGeom>
              <a:avLst/>
              <a:gdLst/>
              <a:ahLst/>
              <a:cxnLst/>
              <a:rect l="l" t="t" r="r" b="b"/>
              <a:pathLst>
                <a:path w="2131059" h="6858000">
                  <a:moveTo>
                    <a:pt x="2131024" y="0"/>
                  </a:moveTo>
                  <a:lnTo>
                    <a:pt x="0" y="0"/>
                  </a:lnTo>
                  <a:lnTo>
                    <a:pt x="1854417" y="6857996"/>
                  </a:lnTo>
                  <a:lnTo>
                    <a:pt x="2131024" y="6849812"/>
                  </a:lnTo>
                  <a:lnTo>
                    <a:pt x="2131024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96275" y="0"/>
              <a:ext cx="847725" cy="6858000"/>
            </a:xfrm>
            <a:custGeom>
              <a:avLst/>
              <a:gdLst/>
              <a:ahLst/>
              <a:cxnLst/>
              <a:rect l="l" t="t" r="r" b="b"/>
              <a:pathLst>
                <a:path w="847725" h="6858000">
                  <a:moveTo>
                    <a:pt x="847724" y="0"/>
                  </a:moveTo>
                  <a:lnTo>
                    <a:pt x="675844" y="0"/>
                  </a:lnTo>
                  <a:lnTo>
                    <a:pt x="0" y="6857996"/>
                  </a:lnTo>
                  <a:lnTo>
                    <a:pt x="847724" y="6857996"/>
                  </a:lnTo>
                  <a:lnTo>
                    <a:pt x="847724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8502" y="0"/>
              <a:ext cx="1065530" cy="6858000"/>
            </a:xfrm>
            <a:custGeom>
              <a:avLst/>
              <a:gdLst/>
              <a:ahLst/>
              <a:cxnLst/>
              <a:rect l="l" t="t" r="r" b="b"/>
              <a:pathLst>
                <a:path w="1065529" h="6858000">
                  <a:moveTo>
                    <a:pt x="1051011" y="0"/>
                  </a:moveTo>
                  <a:lnTo>
                    <a:pt x="0" y="0"/>
                  </a:lnTo>
                  <a:lnTo>
                    <a:pt x="937354" y="6857996"/>
                  </a:lnTo>
                  <a:lnTo>
                    <a:pt x="1065244" y="6857996"/>
                  </a:lnTo>
                  <a:lnTo>
                    <a:pt x="1065403" y="6654290"/>
                  </a:lnTo>
                  <a:lnTo>
                    <a:pt x="1065353" y="6145194"/>
                  </a:lnTo>
                  <a:lnTo>
                    <a:pt x="1065113" y="5890730"/>
                  </a:lnTo>
                  <a:lnTo>
                    <a:pt x="1064659" y="5585439"/>
                  </a:lnTo>
                  <a:lnTo>
                    <a:pt x="1063930" y="5229344"/>
                  </a:lnTo>
                  <a:lnTo>
                    <a:pt x="1062730" y="4771611"/>
                  </a:lnTo>
                  <a:lnTo>
                    <a:pt x="1060269" y="4008902"/>
                  </a:lnTo>
                  <a:lnTo>
                    <a:pt x="1054878" y="2483663"/>
                  </a:lnTo>
                  <a:lnTo>
                    <a:pt x="1053323" y="1975153"/>
                  </a:lnTo>
                  <a:lnTo>
                    <a:pt x="1052285" y="1568264"/>
                  </a:lnTo>
                  <a:lnTo>
                    <a:pt x="1051572" y="1212157"/>
                  </a:lnTo>
                  <a:lnTo>
                    <a:pt x="1051136" y="906855"/>
                  </a:lnTo>
                  <a:lnTo>
                    <a:pt x="1050911" y="652381"/>
                  </a:lnTo>
                  <a:lnTo>
                    <a:pt x="1050871" y="194183"/>
                  </a:lnTo>
                  <a:lnTo>
                    <a:pt x="1051011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58151" y="4903849"/>
              <a:ext cx="1085850" cy="1954530"/>
            </a:xfrm>
            <a:custGeom>
              <a:avLst/>
              <a:gdLst/>
              <a:ahLst/>
              <a:cxnLst/>
              <a:rect l="l" t="t" r="r" b="b"/>
              <a:pathLst>
                <a:path w="1085850" h="1954529">
                  <a:moveTo>
                    <a:pt x="1085849" y="0"/>
                  </a:moveTo>
                  <a:lnTo>
                    <a:pt x="0" y="1954149"/>
                  </a:lnTo>
                  <a:lnTo>
                    <a:pt x="1085849" y="1949111"/>
                  </a:lnTo>
                  <a:lnTo>
                    <a:pt x="1085849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857250" cy="5624195"/>
          </a:xfrm>
          <a:custGeom>
            <a:avLst/>
            <a:gdLst/>
            <a:ahLst/>
            <a:cxnLst/>
            <a:rect l="l" t="t" r="r" b="b"/>
            <a:pathLst>
              <a:path w="857250" h="5624195">
                <a:moveTo>
                  <a:pt x="857250" y="0"/>
                </a:moveTo>
                <a:lnTo>
                  <a:pt x="0" y="0"/>
                </a:lnTo>
                <a:lnTo>
                  <a:pt x="0" y="5624017"/>
                </a:lnTo>
                <a:lnTo>
                  <a:pt x="857250" y="7366"/>
                </a:lnTo>
                <a:lnTo>
                  <a:pt x="85725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62125" y="990600"/>
            <a:ext cx="249364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5" dirty="0">
                <a:solidFill>
                  <a:srgbClr val="90C225"/>
                </a:solidFill>
              </a:rPr>
              <a:t>M</a:t>
            </a:r>
            <a:r>
              <a:rPr sz="3600" spc="-25" dirty="0">
                <a:solidFill>
                  <a:srgbClr val="90C225"/>
                </a:solidFill>
              </a:rPr>
              <a:t>e</a:t>
            </a:r>
            <a:r>
              <a:rPr sz="3600" spc="-30" dirty="0">
                <a:solidFill>
                  <a:srgbClr val="90C225"/>
                </a:solidFill>
              </a:rPr>
              <a:t>t</a:t>
            </a:r>
            <a:r>
              <a:rPr sz="3600" dirty="0">
                <a:solidFill>
                  <a:srgbClr val="90C225"/>
                </a:solidFill>
              </a:rPr>
              <a:t>hodo</a:t>
            </a:r>
            <a:r>
              <a:rPr sz="3600" spc="40" dirty="0">
                <a:solidFill>
                  <a:srgbClr val="90C225"/>
                </a:solidFill>
              </a:rPr>
              <a:t>l</a:t>
            </a:r>
            <a:r>
              <a:rPr sz="3600" dirty="0">
                <a:solidFill>
                  <a:srgbClr val="90C225"/>
                </a:solidFill>
              </a:rPr>
              <a:t>ogy</a:t>
            </a:r>
            <a:endParaRPr sz="3600" dirty="0"/>
          </a:p>
        </p:txBody>
      </p:sp>
      <p:sp>
        <p:nvSpPr>
          <p:cNvPr id="14" name="object 14"/>
          <p:cNvSpPr txBox="1"/>
          <p:nvPr/>
        </p:nvSpPr>
        <p:spPr>
          <a:xfrm>
            <a:off x="1294511" y="2282507"/>
            <a:ext cx="5373370" cy="2671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" dirty="0">
                <a:latin typeface="Times New Roman"/>
                <a:cs typeface="Times New Roman"/>
              </a:rPr>
              <a:t>Hardware </a:t>
            </a:r>
            <a:r>
              <a:rPr sz="2000" spc="-10" dirty="0">
                <a:latin typeface="Times New Roman"/>
                <a:cs typeface="Times New Roman"/>
              </a:rPr>
              <a:t>:-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Windows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10/11,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i3/i5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Processor,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Internet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000" spc="-5" dirty="0">
                <a:latin typeface="Times New Roman"/>
                <a:cs typeface="Times New Roman"/>
              </a:rPr>
              <a:t>Software:-</a:t>
            </a:r>
            <a:endParaRPr sz="2000">
              <a:latin typeface="Times New Roman"/>
              <a:cs typeface="Times New Roman"/>
            </a:endParaRPr>
          </a:p>
          <a:p>
            <a:pPr marL="12700" marR="2426335">
              <a:lnSpc>
                <a:spcPts val="3460"/>
              </a:lnSpc>
              <a:spcBef>
                <a:spcPts val="210"/>
              </a:spcBef>
            </a:pPr>
            <a:r>
              <a:rPr sz="2000" spc="5" dirty="0">
                <a:latin typeface="Times New Roman"/>
                <a:cs typeface="Times New Roman"/>
              </a:rPr>
              <a:t>VSCode, </a:t>
            </a:r>
            <a:r>
              <a:rPr sz="2000" spc="-5" dirty="0">
                <a:latin typeface="Times New Roman"/>
                <a:cs typeface="Times New Roman"/>
              </a:rPr>
              <a:t>MYSQL, </a:t>
            </a:r>
            <a:r>
              <a:rPr sz="2000" spc="-15" dirty="0">
                <a:latin typeface="Times New Roman"/>
                <a:cs typeface="Times New Roman"/>
              </a:rPr>
              <a:t>Browser.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Technologies:-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685"/>
              </a:spcBef>
            </a:pPr>
            <a:r>
              <a:rPr sz="2000" spc="5" dirty="0">
                <a:latin typeface="Times New Roman"/>
                <a:cs typeface="Times New Roman"/>
              </a:rPr>
              <a:t>HTML,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CSS,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Javascript,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Python,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Machine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Learning,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MYSQL.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1800" y="6119177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36420" y="0"/>
            <a:ext cx="4012565" cy="6863080"/>
            <a:chOff x="5136420" y="0"/>
            <a:chExt cx="4012565" cy="6863080"/>
          </a:xfrm>
        </p:grpSpPr>
        <p:sp>
          <p:nvSpPr>
            <p:cNvPr id="3" name="object 3"/>
            <p:cNvSpPr/>
            <p:nvPr/>
          </p:nvSpPr>
          <p:spPr>
            <a:xfrm>
              <a:off x="5141182" y="4188464"/>
              <a:ext cx="4003040" cy="2669540"/>
            </a:xfrm>
            <a:custGeom>
              <a:avLst/>
              <a:gdLst/>
              <a:ahLst/>
              <a:cxnLst/>
              <a:rect l="l" t="t" r="r" b="b"/>
              <a:pathLst>
                <a:path w="4003040" h="2669540">
                  <a:moveTo>
                    <a:pt x="0" y="2669535"/>
                  </a:moveTo>
                  <a:lnTo>
                    <a:pt x="4002817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43801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96412" y="0"/>
              <a:ext cx="2247900" cy="6858000"/>
            </a:xfrm>
            <a:custGeom>
              <a:avLst/>
              <a:gdLst/>
              <a:ahLst/>
              <a:cxnLst/>
              <a:rect l="l" t="t" r="r" b="b"/>
              <a:pathLst>
                <a:path w="2247900" h="6858000">
                  <a:moveTo>
                    <a:pt x="2021019" y="0"/>
                  </a:moveTo>
                  <a:lnTo>
                    <a:pt x="0" y="6857998"/>
                  </a:lnTo>
                  <a:lnTo>
                    <a:pt x="2247587" y="6857998"/>
                  </a:lnTo>
                  <a:lnTo>
                    <a:pt x="2247587" y="8143"/>
                  </a:lnTo>
                  <a:lnTo>
                    <a:pt x="2021019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12088" y="0"/>
              <a:ext cx="1932305" cy="6858000"/>
            </a:xfrm>
            <a:custGeom>
              <a:avLst/>
              <a:gdLst/>
              <a:ahLst/>
              <a:cxnLst/>
              <a:rect l="l" t="t" r="r" b="b"/>
              <a:pathLst>
                <a:path w="1932304" h="6858000">
                  <a:moveTo>
                    <a:pt x="1931911" y="0"/>
                  </a:moveTo>
                  <a:lnTo>
                    <a:pt x="0" y="0"/>
                  </a:lnTo>
                  <a:lnTo>
                    <a:pt x="1197470" y="6857996"/>
                  </a:lnTo>
                  <a:lnTo>
                    <a:pt x="1931911" y="6857996"/>
                  </a:lnTo>
                  <a:lnTo>
                    <a:pt x="1931911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38926" y="3927865"/>
              <a:ext cx="2505075" cy="2930525"/>
            </a:xfrm>
            <a:custGeom>
              <a:avLst/>
              <a:gdLst/>
              <a:ahLst/>
              <a:cxnLst/>
              <a:rect l="l" t="t" r="r" b="b"/>
              <a:pathLst>
                <a:path w="2505075" h="2930525">
                  <a:moveTo>
                    <a:pt x="2505073" y="0"/>
                  </a:moveTo>
                  <a:lnTo>
                    <a:pt x="0" y="2930133"/>
                  </a:lnTo>
                  <a:lnTo>
                    <a:pt x="2505073" y="2930133"/>
                  </a:lnTo>
                  <a:lnTo>
                    <a:pt x="2505073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12975" y="0"/>
              <a:ext cx="2131060" cy="6858000"/>
            </a:xfrm>
            <a:custGeom>
              <a:avLst/>
              <a:gdLst/>
              <a:ahLst/>
              <a:cxnLst/>
              <a:rect l="l" t="t" r="r" b="b"/>
              <a:pathLst>
                <a:path w="2131059" h="6858000">
                  <a:moveTo>
                    <a:pt x="2131024" y="0"/>
                  </a:moveTo>
                  <a:lnTo>
                    <a:pt x="0" y="0"/>
                  </a:lnTo>
                  <a:lnTo>
                    <a:pt x="1854417" y="6857996"/>
                  </a:lnTo>
                  <a:lnTo>
                    <a:pt x="2131024" y="6849812"/>
                  </a:lnTo>
                  <a:lnTo>
                    <a:pt x="2131024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96275" y="0"/>
              <a:ext cx="847725" cy="6858000"/>
            </a:xfrm>
            <a:custGeom>
              <a:avLst/>
              <a:gdLst/>
              <a:ahLst/>
              <a:cxnLst/>
              <a:rect l="l" t="t" r="r" b="b"/>
              <a:pathLst>
                <a:path w="847725" h="6858000">
                  <a:moveTo>
                    <a:pt x="847724" y="0"/>
                  </a:moveTo>
                  <a:lnTo>
                    <a:pt x="675844" y="0"/>
                  </a:lnTo>
                  <a:lnTo>
                    <a:pt x="0" y="6857996"/>
                  </a:lnTo>
                  <a:lnTo>
                    <a:pt x="847724" y="6857996"/>
                  </a:lnTo>
                  <a:lnTo>
                    <a:pt x="847724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8502" y="0"/>
              <a:ext cx="1065530" cy="6858000"/>
            </a:xfrm>
            <a:custGeom>
              <a:avLst/>
              <a:gdLst/>
              <a:ahLst/>
              <a:cxnLst/>
              <a:rect l="l" t="t" r="r" b="b"/>
              <a:pathLst>
                <a:path w="1065529" h="6858000">
                  <a:moveTo>
                    <a:pt x="1051011" y="0"/>
                  </a:moveTo>
                  <a:lnTo>
                    <a:pt x="0" y="0"/>
                  </a:lnTo>
                  <a:lnTo>
                    <a:pt x="937354" y="6857996"/>
                  </a:lnTo>
                  <a:lnTo>
                    <a:pt x="1065244" y="6857996"/>
                  </a:lnTo>
                  <a:lnTo>
                    <a:pt x="1065403" y="6654290"/>
                  </a:lnTo>
                  <a:lnTo>
                    <a:pt x="1065353" y="6145194"/>
                  </a:lnTo>
                  <a:lnTo>
                    <a:pt x="1065113" y="5890730"/>
                  </a:lnTo>
                  <a:lnTo>
                    <a:pt x="1064659" y="5585439"/>
                  </a:lnTo>
                  <a:lnTo>
                    <a:pt x="1063930" y="5229344"/>
                  </a:lnTo>
                  <a:lnTo>
                    <a:pt x="1062730" y="4771611"/>
                  </a:lnTo>
                  <a:lnTo>
                    <a:pt x="1060269" y="4008902"/>
                  </a:lnTo>
                  <a:lnTo>
                    <a:pt x="1054878" y="2483663"/>
                  </a:lnTo>
                  <a:lnTo>
                    <a:pt x="1053323" y="1975153"/>
                  </a:lnTo>
                  <a:lnTo>
                    <a:pt x="1052285" y="1568264"/>
                  </a:lnTo>
                  <a:lnTo>
                    <a:pt x="1051572" y="1212157"/>
                  </a:lnTo>
                  <a:lnTo>
                    <a:pt x="1051136" y="906855"/>
                  </a:lnTo>
                  <a:lnTo>
                    <a:pt x="1050911" y="652381"/>
                  </a:lnTo>
                  <a:lnTo>
                    <a:pt x="1050871" y="194183"/>
                  </a:lnTo>
                  <a:lnTo>
                    <a:pt x="1051011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58150" y="4903849"/>
              <a:ext cx="1085850" cy="1954530"/>
            </a:xfrm>
            <a:custGeom>
              <a:avLst/>
              <a:gdLst/>
              <a:ahLst/>
              <a:cxnLst/>
              <a:rect l="l" t="t" r="r" b="b"/>
              <a:pathLst>
                <a:path w="1085850" h="1954529">
                  <a:moveTo>
                    <a:pt x="1085849" y="0"/>
                  </a:moveTo>
                  <a:lnTo>
                    <a:pt x="0" y="1954149"/>
                  </a:lnTo>
                  <a:lnTo>
                    <a:pt x="1085849" y="1949111"/>
                  </a:lnTo>
                  <a:lnTo>
                    <a:pt x="1085849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0" y="0"/>
            <a:ext cx="8410575" cy="5624195"/>
            <a:chOff x="0" y="0"/>
            <a:chExt cx="8410575" cy="5624195"/>
          </a:xfrm>
        </p:grpSpPr>
        <p:sp>
          <p:nvSpPr>
            <p:cNvPr id="13" name="object 13"/>
            <p:cNvSpPr/>
            <p:nvPr/>
          </p:nvSpPr>
          <p:spPr>
            <a:xfrm>
              <a:off x="0" y="0"/>
              <a:ext cx="857250" cy="5624195"/>
            </a:xfrm>
            <a:custGeom>
              <a:avLst/>
              <a:gdLst/>
              <a:ahLst/>
              <a:cxnLst/>
              <a:rect l="l" t="t" r="r" b="b"/>
              <a:pathLst>
                <a:path w="857250" h="5624195">
                  <a:moveTo>
                    <a:pt x="857250" y="0"/>
                  </a:moveTo>
                  <a:lnTo>
                    <a:pt x="0" y="0"/>
                  </a:lnTo>
                  <a:lnTo>
                    <a:pt x="0" y="5624017"/>
                  </a:lnTo>
                  <a:lnTo>
                    <a:pt x="857250" y="7366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725" y="2562225"/>
              <a:ext cx="7943850" cy="2819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62125" y="4438650"/>
              <a:ext cx="647700" cy="285750"/>
            </a:xfrm>
            <a:custGeom>
              <a:avLst/>
              <a:gdLst/>
              <a:ahLst/>
              <a:cxnLst/>
              <a:rect l="l" t="t" r="r" b="b"/>
              <a:pathLst>
                <a:path w="647700" h="285750">
                  <a:moveTo>
                    <a:pt x="6477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647700" y="28575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62125" y="4438650"/>
              <a:ext cx="647700" cy="285750"/>
            </a:xfrm>
            <a:custGeom>
              <a:avLst/>
              <a:gdLst/>
              <a:ahLst/>
              <a:cxnLst/>
              <a:rect l="l" t="t" r="r" b="b"/>
              <a:pathLst>
                <a:path w="647700" h="285750">
                  <a:moveTo>
                    <a:pt x="0" y="285750"/>
                  </a:moveTo>
                  <a:lnTo>
                    <a:pt x="647700" y="285750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062314" y="1048703"/>
            <a:ext cx="28289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90C225"/>
                </a:solidFill>
              </a:rPr>
              <a:t>Block</a:t>
            </a:r>
            <a:r>
              <a:rPr sz="3600" spc="-65" dirty="0">
                <a:solidFill>
                  <a:srgbClr val="90C225"/>
                </a:solidFill>
              </a:rPr>
              <a:t> </a:t>
            </a:r>
            <a:r>
              <a:rPr sz="3600" spc="-10" dirty="0">
                <a:solidFill>
                  <a:srgbClr val="90C225"/>
                </a:solidFill>
              </a:rPr>
              <a:t>Diagram</a:t>
            </a:r>
            <a:endParaRPr sz="3600" dirty="0"/>
          </a:p>
        </p:txBody>
      </p:sp>
      <p:sp>
        <p:nvSpPr>
          <p:cNvPr id="18" name="object 18"/>
          <p:cNvSpPr txBox="1"/>
          <p:nvPr/>
        </p:nvSpPr>
        <p:spPr>
          <a:xfrm>
            <a:off x="6781800" y="6119177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5945" y="4350956"/>
            <a:ext cx="492125" cy="462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Trebuchet MS"/>
                <a:cs typeface="Trebuchet MS"/>
              </a:rPr>
              <a:t>(Html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spc="10" dirty="0">
                <a:latin typeface="Trebuchet MS"/>
                <a:cs typeface="Trebuchet MS"/>
              </a:rPr>
              <a:t>,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CSS)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975" y="624586"/>
            <a:ext cx="219964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90C225"/>
                </a:solidFill>
              </a:rPr>
              <a:t>Schematic</a:t>
            </a:r>
            <a:r>
              <a:rPr sz="3600" spc="-95" dirty="0">
                <a:solidFill>
                  <a:srgbClr val="90C225"/>
                </a:solidFill>
              </a:rPr>
              <a:t> </a:t>
            </a:r>
            <a:r>
              <a:rPr sz="3600" dirty="0">
                <a:solidFill>
                  <a:srgbClr val="90C225"/>
                </a:solidFill>
              </a:rPr>
              <a:t>-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781800" y="6119177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800" y="1771650"/>
            <a:ext cx="6410325" cy="3600450"/>
            <a:chOff x="685800" y="1771650"/>
            <a:chExt cx="6410325" cy="36004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771650"/>
              <a:ext cx="6410325" cy="36004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7237" y="3290950"/>
              <a:ext cx="2664460" cy="1800225"/>
            </a:xfrm>
            <a:custGeom>
              <a:avLst/>
              <a:gdLst/>
              <a:ahLst/>
              <a:cxnLst/>
              <a:rect l="l" t="t" r="r" b="b"/>
              <a:pathLst>
                <a:path w="2664460" h="1800225">
                  <a:moveTo>
                    <a:pt x="2663888" y="1800225"/>
                  </a:moveTo>
                  <a:lnTo>
                    <a:pt x="0" y="1800225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0887" y="3252724"/>
              <a:ext cx="294005" cy="76200"/>
            </a:xfrm>
            <a:custGeom>
              <a:avLst/>
              <a:gdLst/>
              <a:ahLst/>
              <a:cxnLst/>
              <a:rect l="l" t="t" r="r" b="b"/>
              <a:pathLst>
                <a:path w="294005" h="76200">
                  <a:moveTo>
                    <a:pt x="217487" y="44567"/>
                  </a:moveTo>
                  <a:lnTo>
                    <a:pt x="217487" y="76200"/>
                  </a:lnTo>
                  <a:lnTo>
                    <a:pt x="280945" y="44576"/>
                  </a:lnTo>
                  <a:lnTo>
                    <a:pt x="217487" y="44567"/>
                  </a:lnTo>
                  <a:close/>
                </a:path>
                <a:path w="294005" h="76200">
                  <a:moveTo>
                    <a:pt x="217487" y="31869"/>
                  </a:moveTo>
                  <a:lnTo>
                    <a:pt x="217487" y="44567"/>
                  </a:lnTo>
                  <a:lnTo>
                    <a:pt x="233692" y="44576"/>
                  </a:lnTo>
                  <a:lnTo>
                    <a:pt x="236537" y="41655"/>
                  </a:lnTo>
                  <a:lnTo>
                    <a:pt x="236537" y="34671"/>
                  </a:lnTo>
                  <a:lnTo>
                    <a:pt x="233692" y="31876"/>
                  </a:lnTo>
                  <a:lnTo>
                    <a:pt x="217487" y="31869"/>
                  </a:lnTo>
                  <a:close/>
                </a:path>
                <a:path w="294005" h="76200">
                  <a:moveTo>
                    <a:pt x="217487" y="0"/>
                  </a:moveTo>
                  <a:lnTo>
                    <a:pt x="217487" y="31869"/>
                  </a:lnTo>
                  <a:lnTo>
                    <a:pt x="230187" y="31876"/>
                  </a:lnTo>
                  <a:lnTo>
                    <a:pt x="233692" y="31876"/>
                  </a:lnTo>
                  <a:lnTo>
                    <a:pt x="236537" y="34671"/>
                  </a:lnTo>
                  <a:lnTo>
                    <a:pt x="236537" y="41655"/>
                  </a:lnTo>
                  <a:lnTo>
                    <a:pt x="233692" y="44576"/>
                  </a:lnTo>
                  <a:lnTo>
                    <a:pt x="280963" y="44567"/>
                  </a:lnTo>
                  <a:lnTo>
                    <a:pt x="293687" y="38226"/>
                  </a:lnTo>
                  <a:lnTo>
                    <a:pt x="217487" y="0"/>
                  </a:lnTo>
                  <a:close/>
                </a:path>
                <a:path w="294005" h="76200">
                  <a:moveTo>
                    <a:pt x="6350" y="31750"/>
                  </a:moveTo>
                  <a:lnTo>
                    <a:pt x="2844" y="31750"/>
                  </a:lnTo>
                  <a:lnTo>
                    <a:pt x="0" y="34671"/>
                  </a:lnTo>
                  <a:lnTo>
                    <a:pt x="0" y="41655"/>
                  </a:lnTo>
                  <a:lnTo>
                    <a:pt x="2844" y="44450"/>
                  </a:lnTo>
                  <a:lnTo>
                    <a:pt x="217487" y="44567"/>
                  </a:lnTo>
                  <a:lnTo>
                    <a:pt x="217487" y="31869"/>
                  </a:lnTo>
                  <a:lnTo>
                    <a:pt x="635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575" y="298830"/>
            <a:ext cx="456755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50" dirty="0">
                <a:solidFill>
                  <a:srgbClr val="90C225"/>
                </a:solidFill>
              </a:rPr>
              <a:t>F</a:t>
            </a:r>
            <a:r>
              <a:rPr sz="3950" spc="20" dirty="0">
                <a:solidFill>
                  <a:srgbClr val="90C225"/>
                </a:solidFill>
              </a:rPr>
              <a:t>l</a:t>
            </a:r>
            <a:r>
              <a:rPr sz="3950" spc="-25" dirty="0">
                <a:solidFill>
                  <a:srgbClr val="90C225"/>
                </a:solidFill>
              </a:rPr>
              <a:t>o</a:t>
            </a:r>
            <a:r>
              <a:rPr sz="3950" spc="70" dirty="0">
                <a:solidFill>
                  <a:srgbClr val="90C225"/>
                </a:solidFill>
              </a:rPr>
              <a:t>w</a:t>
            </a:r>
            <a:r>
              <a:rPr sz="3950" spc="-30" dirty="0">
                <a:solidFill>
                  <a:srgbClr val="90C225"/>
                </a:solidFill>
              </a:rPr>
              <a:t>c</a:t>
            </a:r>
            <a:r>
              <a:rPr sz="3950" spc="40" dirty="0">
                <a:solidFill>
                  <a:srgbClr val="90C225"/>
                </a:solidFill>
              </a:rPr>
              <a:t>ha</a:t>
            </a:r>
            <a:r>
              <a:rPr sz="3950" spc="25" dirty="0">
                <a:solidFill>
                  <a:srgbClr val="90C225"/>
                </a:solidFill>
              </a:rPr>
              <a:t>r</a:t>
            </a:r>
            <a:r>
              <a:rPr sz="3950" spc="5" dirty="0">
                <a:solidFill>
                  <a:srgbClr val="90C225"/>
                </a:solidFill>
              </a:rPr>
              <a:t>t</a:t>
            </a:r>
            <a:r>
              <a:rPr sz="3950" dirty="0">
                <a:solidFill>
                  <a:srgbClr val="90C225"/>
                </a:solidFill>
              </a:rPr>
              <a:t> </a:t>
            </a:r>
            <a:r>
              <a:rPr sz="3950" spc="5" dirty="0">
                <a:solidFill>
                  <a:srgbClr val="90C225"/>
                </a:solidFill>
              </a:rPr>
              <a:t>/</a:t>
            </a:r>
            <a:r>
              <a:rPr sz="3950" spc="-225" dirty="0">
                <a:solidFill>
                  <a:srgbClr val="90C225"/>
                </a:solidFill>
              </a:rPr>
              <a:t> </a:t>
            </a:r>
            <a:r>
              <a:rPr sz="3950" dirty="0">
                <a:solidFill>
                  <a:srgbClr val="90C225"/>
                </a:solidFill>
              </a:rPr>
              <a:t>A</a:t>
            </a:r>
            <a:r>
              <a:rPr sz="3950" spc="20" dirty="0">
                <a:solidFill>
                  <a:srgbClr val="90C225"/>
                </a:solidFill>
              </a:rPr>
              <a:t>l</a:t>
            </a:r>
            <a:r>
              <a:rPr sz="3950" spc="45" dirty="0">
                <a:solidFill>
                  <a:srgbClr val="90C225"/>
                </a:solidFill>
              </a:rPr>
              <a:t>go</a:t>
            </a:r>
            <a:r>
              <a:rPr sz="3950" spc="-45" dirty="0">
                <a:solidFill>
                  <a:srgbClr val="90C225"/>
                </a:solidFill>
              </a:rPr>
              <a:t>r</a:t>
            </a:r>
            <a:r>
              <a:rPr sz="3950" spc="20" dirty="0">
                <a:solidFill>
                  <a:srgbClr val="90C225"/>
                </a:solidFill>
              </a:rPr>
              <a:t>it</a:t>
            </a:r>
            <a:r>
              <a:rPr sz="3950" spc="45" dirty="0">
                <a:solidFill>
                  <a:srgbClr val="90C225"/>
                </a:solidFill>
              </a:rPr>
              <a:t>h</a:t>
            </a:r>
            <a:r>
              <a:rPr sz="3950" spc="20" dirty="0">
                <a:solidFill>
                  <a:srgbClr val="90C225"/>
                </a:solidFill>
              </a:rPr>
              <a:t>m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5" y="1114425"/>
            <a:ext cx="6991350" cy="54673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04076" y="6119177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66207" y="2464307"/>
            <a:ext cx="1641475" cy="2263775"/>
            <a:chOff x="5466207" y="2464307"/>
            <a:chExt cx="1641475" cy="22637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6207" y="2508583"/>
              <a:ext cx="1390268" cy="21885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00951" y="2538475"/>
              <a:ext cx="0" cy="2189480"/>
            </a:xfrm>
            <a:custGeom>
              <a:avLst/>
              <a:gdLst/>
              <a:ahLst/>
              <a:cxnLst/>
              <a:rect l="l" t="t" r="r" b="b"/>
              <a:pathLst>
                <a:path h="2189479">
                  <a:moveTo>
                    <a:pt x="0" y="218909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91099" y="2464307"/>
              <a:ext cx="1610360" cy="85725"/>
            </a:xfrm>
            <a:custGeom>
              <a:avLst/>
              <a:gdLst/>
              <a:ahLst/>
              <a:cxnLst/>
              <a:rect l="l" t="t" r="r" b="b"/>
              <a:pathLst>
                <a:path w="1610359" h="85725">
                  <a:moveTo>
                    <a:pt x="76369" y="31706"/>
                  </a:moveTo>
                  <a:lnTo>
                    <a:pt x="76029" y="44407"/>
                  </a:lnTo>
                  <a:lnTo>
                    <a:pt x="1606803" y="85343"/>
                  </a:lnTo>
                  <a:lnTo>
                    <a:pt x="1609725" y="82550"/>
                  </a:lnTo>
                  <a:lnTo>
                    <a:pt x="1609852" y="75564"/>
                  </a:lnTo>
                  <a:lnTo>
                    <a:pt x="1607057" y="72643"/>
                  </a:lnTo>
                  <a:lnTo>
                    <a:pt x="1603628" y="72516"/>
                  </a:lnTo>
                  <a:lnTo>
                    <a:pt x="76369" y="31706"/>
                  </a:lnTo>
                  <a:close/>
                </a:path>
                <a:path w="1610359" h="85725">
                  <a:moveTo>
                    <a:pt x="77215" y="0"/>
                  </a:moveTo>
                  <a:lnTo>
                    <a:pt x="0" y="35940"/>
                  </a:lnTo>
                  <a:lnTo>
                    <a:pt x="75184" y="76072"/>
                  </a:lnTo>
                  <a:lnTo>
                    <a:pt x="76029" y="44407"/>
                  </a:lnTo>
                  <a:lnTo>
                    <a:pt x="59816" y="43941"/>
                  </a:lnTo>
                  <a:lnTo>
                    <a:pt x="57150" y="41020"/>
                  </a:lnTo>
                  <a:lnTo>
                    <a:pt x="57276" y="34036"/>
                  </a:lnTo>
                  <a:lnTo>
                    <a:pt x="60198" y="31241"/>
                  </a:lnTo>
                  <a:lnTo>
                    <a:pt x="76381" y="31241"/>
                  </a:lnTo>
                  <a:lnTo>
                    <a:pt x="77215" y="0"/>
                  </a:lnTo>
                  <a:close/>
                </a:path>
                <a:path w="1610359" h="85725">
                  <a:moveTo>
                    <a:pt x="60198" y="31241"/>
                  </a:moveTo>
                  <a:lnTo>
                    <a:pt x="57276" y="34036"/>
                  </a:lnTo>
                  <a:lnTo>
                    <a:pt x="57150" y="41020"/>
                  </a:lnTo>
                  <a:lnTo>
                    <a:pt x="59816" y="43941"/>
                  </a:lnTo>
                  <a:lnTo>
                    <a:pt x="76029" y="44407"/>
                  </a:lnTo>
                  <a:lnTo>
                    <a:pt x="76369" y="31706"/>
                  </a:lnTo>
                  <a:lnTo>
                    <a:pt x="60198" y="31241"/>
                  </a:lnTo>
                  <a:close/>
                </a:path>
                <a:path w="1610359" h="85725">
                  <a:moveTo>
                    <a:pt x="76381" y="31241"/>
                  </a:moveTo>
                  <a:lnTo>
                    <a:pt x="60198" y="31241"/>
                  </a:lnTo>
                  <a:lnTo>
                    <a:pt x="76369" y="31706"/>
                  </a:lnTo>
                  <a:lnTo>
                    <a:pt x="76381" y="3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175" y="533400"/>
            <a:ext cx="26206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15" dirty="0">
                <a:solidFill>
                  <a:schemeClr val="accent3"/>
                </a:solidFill>
              </a:rPr>
              <a:t>Applications</a:t>
            </a:r>
            <a:endParaRPr sz="3950" dirty="0">
              <a:solidFill>
                <a:schemeClr val="accent3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8169" y="2484120"/>
            <a:ext cx="337185" cy="337185"/>
            <a:chOff x="598169" y="2484120"/>
            <a:chExt cx="337185" cy="337185"/>
          </a:xfrm>
        </p:grpSpPr>
        <p:sp>
          <p:nvSpPr>
            <p:cNvPr id="4" name="object 4"/>
            <p:cNvSpPr/>
            <p:nvPr/>
          </p:nvSpPr>
          <p:spPr>
            <a:xfrm>
              <a:off x="609599" y="2495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162" y="0"/>
                  </a:moveTo>
                  <a:lnTo>
                    <a:pt x="107484" y="8011"/>
                  </a:lnTo>
                  <a:lnTo>
                    <a:pt x="64341" y="30317"/>
                  </a:lnTo>
                  <a:lnTo>
                    <a:pt x="30321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807"/>
                  </a:lnTo>
                  <a:lnTo>
                    <a:pt x="30321" y="249969"/>
                  </a:lnTo>
                  <a:lnTo>
                    <a:pt x="64341" y="283999"/>
                  </a:lnTo>
                  <a:lnTo>
                    <a:pt x="107484" y="306312"/>
                  </a:lnTo>
                  <a:lnTo>
                    <a:pt x="157162" y="314325"/>
                  </a:lnTo>
                  <a:lnTo>
                    <a:pt x="206840" y="306312"/>
                  </a:lnTo>
                  <a:lnTo>
                    <a:pt x="249983" y="283999"/>
                  </a:lnTo>
                  <a:lnTo>
                    <a:pt x="284003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3" y="64328"/>
                  </a:lnTo>
                  <a:lnTo>
                    <a:pt x="249983" y="30317"/>
                  </a:lnTo>
                  <a:lnTo>
                    <a:pt x="206840" y="8011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" y="2495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21" y="64328"/>
                  </a:lnTo>
                  <a:lnTo>
                    <a:pt x="64341" y="30317"/>
                  </a:lnTo>
                  <a:lnTo>
                    <a:pt x="107484" y="8011"/>
                  </a:lnTo>
                  <a:lnTo>
                    <a:pt x="157162" y="0"/>
                  </a:lnTo>
                  <a:lnTo>
                    <a:pt x="206840" y="8011"/>
                  </a:lnTo>
                  <a:lnTo>
                    <a:pt x="249983" y="30317"/>
                  </a:lnTo>
                  <a:lnTo>
                    <a:pt x="284003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3" y="249969"/>
                  </a:lnTo>
                  <a:lnTo>
                    <a:pt x="249983" y="283999"/>
                  </a:lnTo>
                  <a:lnTo>
                    <a:pt x="206840" y="306312"/>
                  </a:lnTo>
                  <a:lnTo>
                    <a:pt x="157162" y="314325"/>
                  </a:lnTo>
                  <a:lnTo>
                    <a:pt x="107484" y="306312"/>
                  </a:lnTo>
                  <a:lnTo>
                    <a:pt x="64341" y="283999"/>
                  </a:lnTo>
                  <a:lnTo>
                    <a:pt x="30321" y="249969"/>
                  </a:lnTo>
                  <a:lnTo>
                    <a:pt x="8011" y="206807"/>
                  </a:lnTo>
                  <a:lnTo>
                    <a:pt x="0" y="157099"/>
                  </a:lnTo>
                  <a:close/>
                </a:path>
              </a:pathLst>
            </a:custGeom>
            <a:ln w="22860">
              <a:solidFill>
                <a:srgbClr val="F1B4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3737" y="2495867"/>
            <a:ext cx="146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369" y="2298401"/>
            <a:ext cx="3372485" cy="94170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spc="-10" dirty="0">
                <a:latin typeface="Times New Roman"/>
                <a:cs typeface="Times New Roman"/>
              </a:rPr>
              <a:t>Event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Ticketing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7300"/>
              </a:lnSpc>
              <a:spcBef>
                <a:spcPts val="585"/>
              </a:spcBef>
            </a:pPr>
            <a:r>
              <a:rPr sz="1400" dirty="0">
                <a:latin typeface="Times New Roman"/>
                <a:cs typeface="Times New Roman"/>
              </a:rPr>
              <a:t>Streamline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purchase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25" dirty="0">
                <a:latin typeface="Times New Roman"/>
                <a:cs typeface="Times New Roman"/>
              </a:rPr>
              <a:t>of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tickets</a:t>
            </a:r>
            <a:r>
              <a:rPr sz="1400" spc="-15" dirty="0">
                <a:latin typeface="Times New Roman"/>
                <a:cs typeface="Times New Roman"/>
              </a:rPr>
              <a:t> for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concerts,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sporting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other </a:t>
            </a:r>
            <a:r>
              <a:rPr sz="1400" spc="-10" dirty="0">
                <a:latin typeface="Times New Roman"/>
                <a:cs typeface="Times New Roman"/>
              </a:rPr>
              <a:t>entertainment.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36770" y="2484120"/>
            <a:ext cx="337185" cy="337185"/>
            <a:chOff x="4636770" y="2484120"/>
            <a:chExt cx="337185" cy="337185"/>
          </a:xfrm>
        </p:grpSpPr>
        <p:sp>
          <p:nvSpPr>
            <p:cNvPr id="9" name="object 9"/>
            <p:cNvSpPr/>
            <p:nvPr/>
          </p:nvSpPr>
          <p:spPr>
            <a:xfrm>
              <a:off x="4648200" y="2495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8012" y="206807"/>
                  </a:lnTo>
                  <a:lnTo>
                    <a:pt x="30325" y="249969"/>
                  </a:lnTo>
                  <a:lnTo>
                    <a:pt x="64355" y="283999"/>
                  </a:lnTo>
                  <a:lnTo>
                    <a:pt x="107517" y="306312"/>
                  </a:lnTo>
                  <a:lnTo>
                    <a:pt x="157225" y="314325"/>
                  </a:lnTo>
                  <a:lnTo>
                    <a:pt x="206872" y="306312"/>
                  </a:lnTo>
                  <a:lnTo>
                    <a:pt x="249996" y="283999"/>
                  </a:lnTo>
                  <a:lnTo>
                    <a:pt x="284007" y="249969"/>
                  </a:lnTo>
                  <a:lnTo>
                    <a:pt x="306313" y="206807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48200" y="2495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06313" y="206807"/>
                  </a:lnTo>
                  <a:lnTo>
                    <a:pt x="284007" y="249969"/>
                  </a:lnTo>
                  <a:lnTo>
                    <a:pt x="249996" y="283999"/>
                  </a:lnTo>
                  <a:lnTo>
                    <a:pt x="206872" y="306312"/>
                  </a:lnTo>
                  <a:lnTo>
                    <a:pt x="157225" y="314325"/>
                  </a:lnTo>
                  <a:lnTo>
                    <a:pt x="107517" y="306312"/>
                  </a:lnTo>
                  <a:lnTo>
                    <a:pt x="64355" y="283999"/>
                  </a:lnTo>
                  <a:lnTo>
                    <a:pt x="30325" y="249969"/>
                  </a:lnTo>
                  <a:lnTo>
                    <a:pt x="8012" y="206807"/>
                  </a:lnTo>
                  <a:lnTo>
                    <a:pt x="0" y="157099"/>
                  </a:lnTo>
                  <a:close/>
                </a:path>
              </a:pathLst>
            </a:custGeom>
            <a:ln w="22860">
              <a:solidFill>
                <a:srgbClr val="D642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34814" y="2495867"/>
            <a:ext cx="146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6509" y="2406967"/>
            <a:ext cx="346646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imes New Roman"/>
                <a:cs typeface="Times New Roman"/>
              </a:rPr>
              <a:t>Travel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Booking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36600"/>
              </a:lnSpc>
              <a:spcBef>
                <a:spcPts val="525"/>
              </a:spcBef>
            </a:pPr>
            <a:r>
              <a:rPr sz="1100" spc="-15" dirty="0">
                <a:latin typeface="Tahoma"/>
                <a:cs typeface="Tahoma"/>
              </a:rPr>
              <a:t>S</a:t>
            </a:r>
            <a:r>
              <a:rPr sz="1100" spc="-60" dirty="0">
                <a:latin typeface="Tahoma"/>
                <a:cs typeface="Tahoma"/>
              </a:rPr>
              <a:t>e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m</a:t>
            </a:r>
            <a:r>
              <a:rPr sz="1100" spc="45" dirty="0">
                <a:latin typeface="Tahoma"/>
                <a:cs typeface="Tahoma"/>
              </a:rPr>
              <a:t>l</a:t>
            </a:r>
            <a:r>
              <a:rPr sz="1100" spc="15" dirty="0">
                <a:latin typeface="Tahoma"/>
                <a:cs typeface="Tahoma"/>
              </a:rPr>
              <a:t>e</a:t>
            </a:r>
            <a:r>
              <a:rPr sz="1100" spc="-45" dirty="0">
                <a:latin typeface="Tahoma"/>
                <a:cs typeface="Tahoma"/>
              </a:rPr>
              <a:t>ss</a:t>
            </a:r>
            <a:r>
              <a:rPr sz="1100" spc="45" dirty="0">
                <a:latin typeface="Tahoma"/>
                <a:cs typeface="Tahoma"/>
              </a:rPr>
              <a:t>l</a:t>
            </a:r>
            <a:r>
              <a:rPr sz="1100" spc="-25" dirty="0">
                <a:latin typeface="Tahoma"/>
                <a:cs typeface="Tahoma"/>
              </a:rPr>
              <a:t>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</a:t>
            </a:r>
            <a:r>
              <a:rPr sz="1100" spc="-60" dirty="0">
                <a:latin typeface="Tahoma"/>
                <a:cs typeface="Tahoma"/>
              </a:rPr>
              <a:t>e</a:t>
            </a:r>
            <a:r>
              <a:rPr sz="1100" spc="25" dirty="0">
                <a:latin typeface="Tahoma"/>
                <a:cs typeface="Tahoma"/>
              </a:rPr>
              <a:t>s</a:t>
            </a:r>
            <a:r>
              <a:rPr sz="1100" spc="-60" dirty="0">
                <a:latin typeface="Tahoma"/>
                <a:cs typeface="Tahoma"/>
              </a:rPr>
              <a:t>e</a:t>
            </a:r>
            <a:r>
              <a:rPr sz="1100" spc="-25" dirty="0">
                <a:latin typeface="Tahoma"/>
                <a:cs typeface="Tahoma"/>
              </a:rPr>
              <a:t>rv</a:t>
            </a:r>
            <a:r>
              <a:rPr sz="1100" spc="-10" dirty="0">
                <a:latin typeface="Tahoma"/>
                <a:cs typeface="Tahoma"/>
              </a:rPr>
              <a:t>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f</a:t>
            </a:r>
            <a:r>
              <a:rPr sz="1100" spc="45" dirty="0">
                <a:latin typeface="Tahoma"/>
                <a:cs typeface="Tahoma"/>
              </a:rPr>
              <a:t>l</a:t>
            </a:r>
            <a:r>
              <a:rPr sz="1100" spc="10" dirty="0">
                <a:latin typeface="Tahoma"/>
                <a:cs typeface="Tahoma"/>
              </a:rPr>
              <a:t>i</a:t>
            </a:r>
            <a:r>
              <a:rPr sz="1100" spc="20" dirty="0">
                <a:latin typeface="Tahoma"/>
                <a:cs typeface="Tahoma"/>
              </a:rPr>
              <a:t>g</a:t>
            </a:r>
            <a:r>
              <a:rPr sz="1100" spc="-20" dirty="0">
                <a:latin typeface="Tahoma"/>
                <a:cs typeface="Tahoma"/>
              </a:rPr>
              <a:t>h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-45" dirty="0">
                <a:latin typeface="Tahoma"/>
                <a:cs typeface="Tahoma"/>
              </a:rPr>
              <a:t>s</a:t>
            </a:r>
            <a:r>
              <a:rPr sz="1100" spc="-8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</a:t>
            </a:r>
            <a:r>
              <a:rPr sz="1100" dirty="0">
                <a:latin typeface="Tahoma"/>
                <a:cs typeface="Tahoma"/>
              </a:rPr>
              <a:t>ot</a:t>
            </a:r>
            <a:r>
              <a:rPr sz="1100" spc="-60" dirty="0">
                <a:latin typeface="Tahoma"/>
                <a:cs typeface="Tahoma"/>
              </a:rPr>
              <a:t>e</a:t>
            </a:r>
            <a:r>
              <a:rPr sz="1100" spc="120" dirty="0">
                <a:latin typeface="Tahoma"/>
                <a:cs typeface="Tahoma"/>
              </a:rPr>
              <a:t>l</a:t>
            </a:r>
            <a:r>
              <a:rPr sz="1100" spc="-45" dirty="0">
                <a:latin typeface="Tahoma"/>
                <a:cs typeface="Tahoma"/>
              </a:rPr>
              <a:t>s</a:t>
            </a:r>
            <a:r>
              <a:rPr sz="1100" spc="-8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n</a:t>
            </a:r>
            <a:r>
              <a:rPr sz="1100" spc="-5" dirty="0">
                <a:latin typeface="Tahoma"/>
                <a:cs typeface="Tahoma"/>
              </a:rPr>
              <a:t>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</a:t>
            </a:r>
            <a:r>
              <a:rPr sz="1100" spc="-60" dirty="0">
                <a:latin typeface="Tahoma"/>
                <a:cs typeface="Tahoma"/>
              </a:rPr>
              <a:t>e</a:t>
            </a:r>
            <a:r>
              <a:rPr sz="1100" spc="-20" dirty="0">
                <a:latin typeface="Tahoma"/>
                <a:cs typeface="Tahoma"/>
              </a:rPr>
              <a:t>n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75" dirty="0">
                <a:latin typeface="Tahoma"/>
                <a:cs typeface="Tahoma"/>
              </a:rPr>
              <a:t>l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c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r</a:t>
            </a:r>
            <a:r>
              <a:rPr sz="1100" spc="-20" dirty="0">
                <a:latin typeface="Tahoma"/>
                <a:cs typeface="Tahoma"/>
              </a:rPr>
              <a:t>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</a:t>
            </a:r>
            <a:r>
              <a:rPr sz="1100" spc="-20" dirty="0">
                <a:latin typeface="Tahoma"/>
                <a:cs typeface="Tahoma"/>
              </a:rPr>
              <a:t>h</a:t>
            </a:r>
            <a:r>
              <a:rPr sz="1100" spc="-25" dirty="0">
                <a:latin typeface="Tahoma"/>
                <a:cs typeface="Tahoma"/>
              </a:rPr>
              <a:t>r</a:t>
            </a:r>
            <a:r>
              <a:rPr sz="1100" dirty="0">
                <a:latin typeface="Tahoma"/>
                <a:cs typeface="Tahoma"/>
              </a:rPr>
              <a:t>o</a:t>
            </a:r>
            <a:r>
              <a:rPr sz="1100" spc="-20" dirty="0">
                <a:latin typeface="Tahoma"/>
                <a:cs typeface="Tahoma"/>
              </a:rPr>
              <a:t>u</a:t>
            </a:r>
            <a:r>
              <a:rPr sz="1100" spc="-15" dirty="0">
                <a:latin typeface="Tahoma"/>
                <a:cs typeface="Tahoma"/>
              </a:rPr>
              <a:t>g</a:t>
            </a:r>
            <a:r>
              <a:rPr sz="1100" dirty="0">
                <a:latin typeface="Tahoma"/>
                <a:cs typeface="Tahoma"/>
              </a:rPr>
              <a:t>h  </a:t>
            </a:r>
            <a:r>
              <a:rPr sz="1100" spc="-25" dirty="0">
                <a:latin typeface="Tahoma"/>
                <a:cs typeface="Tahoma"/>
              </a:rPr>
              <a:t>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intuitive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interface.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8169" y="3531870"/>
            <a:ext cx="337185" cy="346710"/>
            <a:chOff x="598169" y="3531870"/>
            <a:chExt cx="337185" cy="346710"/>
          </a:xfrm>
        </p:grpSpPr>
        <p:sp>
          <p:nvSpPr>
            <p:cNvPr id="14" name="object 14"/>
            <p:cNvSpPr/>
            <p:nvPr/>
          </p:nvSpPr>
          <p:spPr>
            <a:xfrm>
              <a:off x="609599" y="3543300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157162" y="0"/>
                  </a:moveTo>
                  <a:lnTo>
                    <a:pt x="107484" y="8011"/>
                  </a:lnTo>
                  <a:lnTo>
                    <a:pt x="64341" y="30317"/>
                  </a:lnTo>
                  <a:lnTo>
                    <a:pt x="30321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20" y="166750"/>
                  </a:lnTo>
                  <a:lnTo>
                    <a:pt x="8011" y="216332"/>
                  </a:lnTo>
                  <a:lnTo>
                    <a:pt x="30348" y="259521"/>
                  </a:lnTo>
                  <a:lnTo>
                    <a:pt x="64357" y="293532"/>
                  </a:lnTo>
                  <a:lnTo>
                    <a:pt x="107490" y="315838"/>
                  </a:lnTo>
                  <a:lnTo>
                    <a:pt x="157162" y="323850"/>
                  </a:lnTo>
                  <a:lnTo>
                    <a:pt x="206842" y="315837"/>
                  </a:lnTo>
                  <a:lnTo>
                    <a:pt x="249991" y="293524"/>
                  </a:lnTo>
                  <a:lnTo>
                    <a:pt x="284017" y="259494"/>
                  </a:lnTo>
                  <a:lnTo>
                    <a:pt x="306313" y="216397"/>
                  </a:lnTo>
                  <a:lnTo>
                    <a:pt x="314325" y="166750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3" y="64328"/>
                  </a:lnTo>
                  <a:lnTo>
                    <a:pt x="249983" y="30317"/>
                  </a:lnTo>
                  <a:lnTo>
                    <a:pt x="206840" y="8011"/>
                  </a:lnTo>
                  <a:lnTo>
                    <a:pt x="157162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99" y="3543300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0" y="157099"/>
                  </a:moveTo>
                  <a:lnTo>
                    <a:pt x="8011" y="107452"/>
                  </a:lnTo>
                  <a:lnTo>
                    <a:pt x="30321" y="64328"/>
                  </a:lnTo>
                  <a:lnTo>
                    <a:pt x="64341" y="30317"/>
                  </a:lnTo>
                  <a:lnTo>
                    <a:pt x="107484" y="8011"/>
                  </a:lnTo>
                  <a:lnTo>
                    <a:pt x="157162" y="0"/>
                  </a:lnTo>
                  <a:lnTo>
                    <a:pt x="206840" y="8011"/>
                  </a:lnTo>
                  <a:lnTo>
                    <a:pt x="249983" y="30317"/>
                  </a:lnTo>
                  <a:lnTo>
                    <a:pt x="284003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14325" y="166750"/>
                  </a:lnTo>
                  <a:lnTo>
                    <a:pt x="306313" y="216397"/>
                  </a:lnTo>
                  <a:lnTo>
                    <a:pt x="284003" y="259521"/>
                  </a:lnTo>
                  <a:lnTo>
                    <a:pt x="249983" y="293532"/>
                  </a:lnTo>
                  <a:lnTo>
                    <a:pt x="206840" y="315838"/>
                  </a:lnTo>
                  <a:lnTo>
                    <a:pt x="157162" y="323850"/>
                  </a:lnTo>
                  <a:lnTo>
                    <a:pt x="107484" y="315837"/>
                  </a:lnTo>
                  <a:lnTo>
                    <a:pt x="64341" y="293524"/>
                  </a:lnTo>
                  <a:lnTo>
                    <a:pt x="30321" y="259494"/>
                  </a:lnTo>
                  <a:lnTo>
                    <a:pt x="8011" y="216332"/>
                  </a:lnTo>
                  <a:lnTo>
                    <a:pt x="0" y="166624"/>
                  </a:lnTo>
                  <a:lnTo>
                    <a:pt x="0" y="157099"/>
                  </a:lnTo>
                  <a:close/>
                </a:path>
              </a:pathLst>
            </a:custGeom>
            <a:ln w="22860">
              <a:solidFill>
                <a:srgbClr val="DD7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3737" y="3546411"/>
            <a:ext cx="146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5369" y="3350597"/>
            <a:ext cx="3211830" cy="94170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dirty="0">
                <a:latin typeface="Times New Roman"/>
                <a:cs typeface="Times New Roman"/>
              </a:rPr>
              <a:t>Public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Transportation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7300"/>
              </a:lnSpc>
              <a:spcBef>
                <a:spcPts val="585"/>
              </a:spcBef>
            </a:pPr>
            <a:r>
              <a:rPr sz="1400" spc="-5" dirty="0">
                <a:latin typeface="Times New Roman"/>
                <a:cs typeface="Times New Roman"/>
              </a:rPr>
              <a:t>Easily </a:t>
            </a:r>
            <a:r>
              <a:rPr sz="1400" spc="5" dirty="0">
                <a:latin typeface="Times New Roman"/>
                <a:cs typeface="Times New Roman"/>
              </a:rPr>
              <a:t>purchase </a:t>
            </a:r>
            <a:r>
              <a:rPr sz="1400" spc="-1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manage </a:t>
            </a:r>
            <a:r>
              <a:rPr sz="1400" spc="-10" dirty="0">
                <a:latin typeface="Times New Roman"/>
                <a:cs typeface="Times New Roman"/>
              </a:rPr>
              <a:t>public </a:t>
            </a:r>
            <a:r>
              <a:rPr sz="1400" spc="-5" dirty="0">
                <a:latin typeface="Times New Roman"/>
                <a:cs typeface="Times New Roman"/>
              </a:rPr>
              <a:t> transportation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tickets,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subway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buses.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36770" y="3531870"/>
            <a:ext cx="337185" cy="346710"/>
            <a:chOff x="4636770" y="3531870"/>
            <a:chExt cx="337185" cy="346710"/>
          </a:xfrm>
        </p:grpSpPr>
        <p:sp>
          <p:nvSpPr>
            <p:cNvPr id="19" name="object 19"/>
            <p:cNvSpPr/>
            <p:nvPr/>
          </p:nvSpPr>
          <p:spPr>
            <a:xfrm>
              <a:off x="4648200" y="3543300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157225" y="0"/>
                  </a:moveTo>
                  <a:lnTo>
                    <a:pt x="107517" y="8011"/>
                  </a:lnTo>
                  <a:lnTo>
                    <a:pt x="64355" y="30317"/>
                  </a:lnTo>
                  <a:lnTo>
                    <a:pt x="30325" y="64328"/>
                  </a:lnTo>
                  <a:lnTo>
                    <a:pt x="8012" y="107452"/>
                  </a:lnTo>
                  <a:lnTo>
                    <a:pt x="0" y="157099"/>
                  </a:lnTo>
                  <a:lnTo>
                    <a:pt x="20" y="166750"/>
                  </a:lnTo>
                  <a:lnTo>
                    <a:pt x="8012" y="216332"/>
                  </a:lnTo>
                  <a:lnTo>
                    <a:pt x="30352" y="259521"/>
                  </a:lnTo>
                  <a:lnTo>
                    <a:pt x="64371" y="293532"/>
                  </a:lnTo>
                  <a:lnTo>
                    <a:pt x="107523" y="315838"/>
                  </a:lnTo>
                  <a:lnTo>
                    <a:pt x="157225" y="323850"/>
                  </a:lnTo>
                  <a:lnTo>
                    <a:pt x="206874" y="315837"/>
                  </a:lnTo>
                  <a:lnTo>
                    <a:pt x="250005" y="293524"/>
                  </a:lnTo>
                  <a:lnTo>
                    <a:pt x="284021" y="259494"/>
                  </a:lnTo>
                  <a:lnTo>
                    <a:pt x="306313" y="216397"/>
                  </a:lnTo>
                  <a:lnTo>
                    <a:pt x="314325" y="166750"/>
                  </a:lnTo>
                  <a:lnTo>
                    <a:pt x="314325" y="157099"/>
                  </a:lnTo>
                  <a:lnTo>
                    <a:pt x="306313" y="107452"/>
                  </a:lnTo>
                  <a:lnTo>
                    <a:pt x="284007" y="64328"/>
                  </a:lnTo>
                  <a:lnTo>
                    <a:pt x="249996" y="30317"/>
                  </a:lnTo>
                  <a:lnTo>
                    <a:pt x="206872" y="8011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8200" y="3543300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0" y="157099"/>
                  </a:moveTo>
                  <a:lnTo>
                    <a:pt x="8012" y="107452"/>
                  </a:lnTo>
                  <a:lnTo>
                    <a:pt x="30325" y="64328"/>
                  </a:lnTo>
                  <a:lnTo>
                    <a:pt x="64355" y="30317"/>
                  </a:lnTo>
                  <a:lnTo>
                    <a:pt x="107517" y="8011"/>
                  </a:lnTo>
                  <a:lnTo>
                    <a:pt x="157225" y="0"/>
                  </a:lnTo>
                  <a:lnTo>
                    <a:pt x="206872" y="8011"/>
                  </a:lnTo>
                  <a:lnTo>
                    <a:pt x="249996" y="30317"/>
                  </a:lnTo>
                  <a:lnTo>
                    <a:pt x="284007" y="64328"/>
                  </a:lnTo>
                  <a:lnTo>
                    <a:pt x="306313" y="107452"/>
                  </a:lnTo>
                  <a:lnTo>
                    <a:pt x="314325" y="157099"/>
                  </a:lnTo>
                  <a:lnTo>
                    <a:pt x="314325" y="166750"/>
                  </a:lnTo>
                  <a:lnTo>
                    <a:pt x="306313" y="216397"/>
                  </a:lnTo>
                  <a:lnTo>
                    <a:pt x="284007" y="259521"/>
                  </a:lnTo>
                  <a:lnTo>
                    <a:pt x="249996" y="293532"/>
                  </a:lnTo>
                  <a:lnTo>
                    <a:pt x="206872" y="315838"/>
                  </a:lnTo>
                  <a:lnTo>
                    <a:pt x="157225" y="323850"/>
                  </a:lnTo>
                  <a:lnTo>
                    <a:pt x="107517" y="315837"/>
                  </a:lnTo>
                  <a:lnTo>
                    <a:pt x="64355" y="293524"/>
                  </a:lnTo>
                  <a:lnTo>
                    <a:pt x="30325" y="259494"/>
                  </a:lnTo>
                  <a:lnTo>
                    <a:pt x="8012" y="216332"/>
                  </a:lnTo>
                  <a:lnTo>
                    <a:pt x="0" y="166624"/>
                  </a:lnTo>
                  <a:lnTo>
                    <a:pt x="0" y="157099"/>
                  </a:lnTo>
                  <a:close/>
                </a:path>
              </a:pathLst>
            </a:custGeom>
            <a:ln w="22860">
              <a:solidFill>
                <a:srgbClr val="47A8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34814" y="3546411"/>
            <a:ext cx="146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96509" y="3350597"/>
            <a:ext cx="3104515" cy="94170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spc="-10" dirty="0">
                <a:latin typeface="Times New Roman"/>
                <a:cs typeface="Times New Roman"/>
              </a:rPr>
              <a:t>Customer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Service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7300"/>
              </a:lnSpc>
              <a:spcBef>
                <a:spcPts val="585"/>
              </a:spcBef>
            </a:pPr>
            <a:r>
              <a:rPr sz="1400" dirty="0">
                <a:latin typeface="Times New Roman"/>
                <a:cs typeface="Times New Roman"/>
              </a:rPr>
              <a:t>Provide </a:t>
            </a:r>
            <a:r>
              <a:rPr sz="1400" spc="-10" dirty="0">
                <a:latin typeface="Times New Roman"/>
                <a:cs typeface="Times New Roman"/>
              </a:rPr>
              <a:t>instant </a:t>
            </a:r>
            <a:r>
              <a:rPr sz="1400" spc="10" dirty="0">
                <a:latin typeface="Times New Roman"/>
                <a:cs typeface="Times New Roman"/>
              </a:rPr>
              <a:t>and </a:t>
            </a:r>
            <a:r>
              <a:rPr sz="1400" spc="-5" dirty="0">
                <a:latin typeface="Times New Roman"/>
                <a:cs typeface="Times New Roman"/>
              </a:rPr>
              <a:t>personalized </a:t>
            </a:r>
            <a:r>
              <a:rPr sz="1400" dirty="0">
                <a:latin typeface="Times New Roman"/>
                <a:cs typeface="Times New Roman"/>
              </a:rPr>
              <a:t>support </a:t>
            </a:r>
            <a:r>
              <a:rPr sz="1400" spc="-5" dirty="0">
                <a:latin typeface="Times New Roman"/>
                <a:cs typeface="Times New Roman"/>
              </a:rPr>
              <a:t>to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customers,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resolving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issues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quickly.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45351" y="6142037"/>
            <a:ext cx="1397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640" y="533400"/>
            <a:ext cx="233553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15" dirty="0">
                <a:solidFill>
                  <a:schemeClr val="accent3"/>
                </a:solidFill>
              </a:rPr>
              <a:t>Conclusion</a:t>
            </a:r>
            <a:endParaRPr sz="3950" dirty="0">
              <a:solidFill>
                <a:schemeClr val="accent3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3790950"/>
            <a:ext cx="7934325" cy="19050"/>
          </a:xfrm>
          <a:custGeom>
            <a:avLst/>
            <a:gdLst/>
            <a:ahLst/>
            <a:cxnLst/>
            <a:rect l="l" t="t" r="r" b="b"/>
            <a:pathLst>
              <a:path w="7934325" h="19050">
                <a:moveTo>
                  <a:pt x="7930007" y="0"/>
                </a:moveTo>
                <a:lnTo>
                  <a:pt x="4267" y="0"/>
                </a:lnTo>
                <a:lnTo>
                  <a:pt x="0" y="4318"/>
                </a:lnTo>
                <a:lnTo>
                  <a:pt x="0" y="9525"/>
                </a:lnTo>
                <a:lnTo>
                  <a:pt x="0" y="14731"/>
                </a:lnTo>
                <a:lnTo>
                  <a:pt x="4267" y="19050"/>
                </a:lnTo>
                <a:lnTo>
                  <a:pt x="7930007" y="19050"/>
                </a:lnTo>
                <a:lnTo>
                  <a:pt x="7934325" y="14731"/>
                </a:lnTo>
                <a:lnTo>
                  <a:pt x="7934325" y="4318"/>
                </a:lnTo>
                <a:lnTo>
                  <a:pt x="7930007" y="0"/>
                </a:lnTo>
                <a:close/>
              </a:path>
            </a:pathLst>
          </a:custGeom>
          <a:solidFill>
            <a:srgbClr val="FFFFFF">
              <a:alpha val="23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88744" y="2484120"/>
            <a:ext cx="318135" cy="630555"/>
            <a:chOff x="1388744" y="2484120"/>
            <a:chExt cx="318135" cy="630555"/>
          </a:xfrm>
        </p:grpSpPr>
        <p:sp>
          <p:nvSpPr>
            <p:cNvPr id="5" name="object 5"/>
            <p:cNvSpPr/>
            <p:nvPr/>
          </p:nvSpPr>
          <p:spPr>
            <a:xfrm>
              <a:off x="1533524" y="2647950"/>
              <a:ext cx="19050" cy="466725"/>
            </a:xfrm>
            <a:custGeom>
              <a:avLst/>
              <a:gdLst/>
              <a:ahLst/>
              <a:cxnLst/>
              <a:rect l="l" t="t" r="r" b="b"/>
              <a:pathLst>
                <a:path w="19050" h="466725">
                  <a:moveTo>
                    <a:pt x="14731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462407"/>
                  </a:lnTo>
                  <a:lnTo>
                    <a:pt x="4318" y="466725"/>
                  </a:lnTo>
                  <a:lnTo>
                    <a:pt x="14731" y="466725"/>
                  </a:lnTo>
                  <a:lnTo>
                    <a:pt x="19050" y="462407"/>
                  </a:lnTo>
                  <a:lnTo>
                    <a:pt x="19050" y="4317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F1B4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0174" y="2495550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574" y="0"/>
                  </a:moveTo>
                  <a:lnTo>
                    <a:pt x="100917" y="7520"/>
                  </a:lnTo>
                  <a:lnTo>
                    <a:pt x="60405" y="28464"/>
                  </a:lnTo>
                  <a:lnTo>
                    <a:pt x="28464" y="60405"/>
                  </a:lnTo>
                  <a:lnTo>
                    <a:pt x="7520" y="100917"/>
                  </a:lnTo>
                  <a:lnTo>
                    <a:pt x="0" y="147574"/>
                  </a:lnTo>
                  <a:lnTo>
                    <a:pt x="7520" y="194292"/>
                  </a:lnTo>
                  <a:lnTo>
                    <a:pt x="28464" y="234842"/>
                  </a:lnTo>
                  <a:lnTo>
                    <a:pt x="60405" y="266802"/>
                  </a:lnTo>
                  <a:lnTo>
                    <a:pt x="100917" y="287753"/>
                  </a:lnTo>
                  <a:lnTo>
                    <a:pt x="147574" y="295275"/>
                  </a:lnTo>
                  <a:lnTo>
                    <a:pt x="194292" y="287753"/>
                  </a:lnTo>
                  <a:lnTo>
                    <a:pt x="234842" y="266802"/>
                  </a:lnTo>
                  <a:lnTo>
                    <a:pt x="266802" y="234842"/>
                  </a:lnTo>
                  <a:lnTo>
                    <a:pt x="287753" y="194292"/>
                  </a:lnTo>
                  <a:lnTo>
                    <a:pt x="295275" y="147574"/>
                  </a:lnTo>
                  <a:lnTo>
                    <a:pt x="287753" y="100917"/>
                  </a:lnTo>
                  <a:lnTo>
                    <a:pt x="266802" y="60405"/>
                  </a:lnTo>
                  <a:lnTo>
                    <a:pt x="234842" y="28464"/>
                  </a:lnTo>
                  <a:lnTo>
                    <a:pt x="194292" y="7520"/>
                  </a:lnTo>
                  <a:lnTo>
                    <a:pt x="147574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00174" y="2495550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147574"/>
                  </a:moveTo>
                  <a:lnTo>
                    <a:pt x="7520" y="100917"/>
                  </a:lnTo>
                  <a:lnTo>
                    <a:pt x="28464" y="60405"/>
                  </a:lnTo>
                  <a:lnTo>
                    <a:pt x="60405" y="28464"/>
                  </a:lnTo>
                  <a:lnTo>
                    <a:pt x="100917" y="7520"/>
                  </a:lnTo>
                  <a:lnTo>
                    <a:pt x="147574" y="0"/>
                  </a:lnTo>
                  <a:lnTo>
                    <a:pt x="194292" y="7520"/>
                  </a:lnTo>
                  <a:lnTo>
                    <a:pt x="234842" y="28464"/>
                  </a:lnTo>
                  <a:lnTo>
                    <a:pt x="266802" y="60405"/>
                  </a:lnTo>
                  <a:lnTo>
                    <a:pt x="287753" y="100917"/>
                  </a:lnTo>
                  <a:lnTo>
                    <a:pt x="295275" y="147574"/>
                  </a:lnTo>
                  <a:lnTo>
                    <a:pt x="287753" y="194292"/>
                  </a:lnTo>
                  <a:lnTo>
                    <a:pt x="266802" y="234842"/>
                  </a:lnTo>
                  <a:lnTo>
                    <a:pt x="234842" y="266802"/>
                  </a:lnTo>
                  <a:lnTo>
                    <a:pt x="194292" y="287753"/>
                  </a:lnTo>
                  <a:lnTo>
                    <a:pt x="147574" y="295275"/>
                  </a:lnTo>
                  <a:lnTo>
                    <a:pt x="100917" y="287753"/>
                  </a:lnTo>
                  <a:lnTo>
                    <a:pt x="60405" y="266802"/>
                  </a:lnTo>
                  <a:lnTo>
                    <a:pt x="28464" y="234842"/>
                  </a:lnTo>
                  <a:lnTo>
                    <a:pt x="7520" y="194292"/>
                  </a:lnTo>
                  <a:lnTo>
                    <a:pt x="0" y="147574"/>
                  </a:lnTo>
                  <a:close/>
                </a:path>
              </a:pathLst>
            </a:custGeom>
            <a:ln w="22860">
              <a:solidFill>
                <a:srgbClr val="F1B4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79550" y="2492692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527" y="3064210"/>
            <a:ext cx="1257935" cy="8921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785"/>
              </a:spcBef>
            </a:pPr>
            <a:r>
              <a:rPr sz="1800" spc="-5" dirty="0">
                <a:latin typeface="Times New Roman"/>
                <a:cs typeface="Times New Roman"/>
              </a:rPr>
              <a:t>Efficiency</a:t>
            </a:r>
            <a:endParaRPr sz="18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2800"/>
              </a:lnSpc>
              <a:spcBef>
                <a:spcPts val="520"/>
              </a:spcBef>
            </a:pPr>
            <a:r>
              <a:rPr sz="1400" spc="-5" dirty="0">
                <a:latin typeface="Times New Roman"/>
                <a:cs typeface="Times New Roman"/>
              </a:rPr>
              <a:t>Chatbot-based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ticketing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640" y="3923347"/>
            <a:ext cx="1486535" cy="89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15" algn="ctr">
              <a:lnSpc>
                <a:spcPct val="101299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simplify </a:t>
            </a:r>
            <a:r>
              <a:rPr sz="1400" spc="-5" dirty="0">
                <a:latin typeface="Times New Roman"/>
                <a:cs typeface="Times New Roman"/>
              </a:rPr>
              <a:t>ticket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purchase </a:t>
            </a:r>
            <a:r>
              <a:rPr sz="1400" spc="10" dirty="0">
                <a:latin typeface="Times New Roman"/>
                <a:cs typeface="Times New Roman"/>
              </a:rPr>
              <a:t>and 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30" dirty="0">
                <a:latin typeface="Times New Roman"/>
                <a:cs typeface="Times New Roman"/>
              </a:rPr>
              <a:t>m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5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g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spc="30" dirty="0">
                <a:latin typeface="Times New Roman"/>
                <a:cs typeface="Times New Roman"/>
              </a:rPr>
              <a:t>m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55" dirty="0">
                <a:latin typeface="Times New Roman"/>
                <a:cs typeface="Times New Roman"/>
              </a:rPr>
              <a:t>t</a:t>
            </a:r>
            <a:r>
              <a:rPr sz="1400" spc="5" dirty="0">
                <a:latin typeface="Times New Roman"/>
                <a:cs typeface="Times New Roman"/>
              </a:rPr>
              <a:t>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</a:t>
            </a:r>
            <a:r>
              <a:rPr sz="1400" spc="5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v</a:t>
            </a:r>
            <a:r>
              <a:rPr sz="1400" spc="-20" dirty="0">
                <a:latin typeface="Times New Roman"/>
                <a:cs typeface="Times New Roman"/>
              </a:rPr>
              <a:t>i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5" dirty="0">
                <a:latin typeface="Times New Roman"/>
                <a:cs typeface="Times New Roman"/>
              </a:rPr>
              <a:t>g  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effort.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98520" y="2484120"/>
            <a:ext cx="327660" cy="630555"/>
            <a:chOff x="3398520" y="2484120"/>
            <a:chExt cx="327660" cy="630555"/>
          </a:xfrm>
        </p:grpSpPr>
        <p:sp>
          <p:nvSpPr>
            <p:cNvPr id="12" name="object 12"/>
            <p:cNvSpPr/>
            <p:nvPr/>
          </p:nvSpPr>
          <p:spPr>
            <a:xfrm>
              <a:off x="3552825" y="2647950"/>
              <a:ext cx="19050" cy="466725"/>
            </a:xfrm>
            <a:custGeom>
              <a:avLst/>
              <a:gdLst/>
              <a:ahLst/>
              <a:cxnLst/>
              <a:rect l="l" t="t" r="r" b="b"/>
              <a:pathLst>
                <a:path w="19050" h="466725">
                  <a:moveTo>
                    <a:pt x="14732" y="0"/>
                  </a:moveTo>
                  <a:lnTo>
                    <a:pt x="4317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462407"/>
                  </a:lnTo>
                  <a:lnTo>
                    <a:pt x="4317" y="466725"/>
                  </a:lnTo>
                  <a:lnTo>
                    <a:pt x="14732" y="466725"/>
                  </a:lnTo>
                  <a:lnTo>
                    <a:pt x="19050" y="462407"/>
                  </a:lnTo>
                  <a:lnTo>
                    <a:pt x="19050" y="4317"/>
                  </a:lnTo>
                  <a:lnTo>
                    <a:pt x="14732" y="0"/>
                  </a:lnTo>
                  <a:close/>
                </a:path>
              </a:pathLst>
            </a:custGeom>
            <a:solidFill>
              <a:srgbClr val="D642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09950" y="2495550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157225" y="0"/>
                  </a:moveTo>
                  <a:lnTo>
                    <a:pt x="147700" y="0"/>
                  </a:lnTo>
                  <a:lnTo>
                    <a:pt x="100982" y="7520"/>
                  </a:lnTo>
                  <a:lnTo>
                    <a:pt x="60432" y="28464"/>
                  </a:lnTo>
                  <a:lnTo>
                    <a:pt x="28472" y="60405"/>
                  </a:lnTo>
                  <a:lnTo>
                    <a:pt x="7521" y="100917"/>
                  </a:lnTo>
                  <a:lnTo>
                    <a:pt x="0" y="147574"/>
                  </a:lnTo>
                  <a:lnTo>
                    <a:pt x="7521" y="194292"/>
                  </a:lnTo>
                  <a:lnTo>
                    <a:pt x="28472" y="234842"/>
                  </a:lnTo>
                  <a:lnTo>
                    <a:pt x="60432" y="266802"/>
                  </a:lnTo>
                  <a:lnTo>
                    <a:pt x="100982" y="287753"/>
                  </a:lnTo>
                  <a:lnTo>
                    <a:pt x="147700" y="295275"/>
                  </a:lnTo>
                  <a:lnTo>
                    <a:pt x="157225" y="295275"/>
                  </a:lnTo>
                  <a:lnTo>
                    <a:pt x="203882" y="287753"/>
                  </a:lnTo>
                  <a:lnTo>
                    <a:pt x="244394" y="266802"/>
                  </a:lnTo>
                  <a:lnTo>
                    <a:pt x="276335" y="234842"/>
                  </a:lnTo>
                  <a:lnTo>
                    <a:pt x="297279" y="194292"/>
                  </a:lnTo>
                  <a:lnTo>
                    <a:pt x="304800" y="147574"/>
                  </a:lnTo>
                  <a:lnTo>
                    <a:pt x="297279" y="100917"/>
                  </a:lnTo>
                  <a:lnTo>
                    <a:pt x="276335" y="60405"/>
                  </a:lnTo>
                  <a:lnTo>
                    <a:pt x="244394" y="28464"/>
                  </a:lnTo>
                  <a:lnTo>
                    <a:pt x="203882" y="7520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09950" y="2495550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0" y="147574"/>
                  </a:moveTo>
                  <a:lnTo>
                    <a:pt x="7521" y="100917"/>
                  </a:lnTo>
                  <a:lnTo>
                    <a:pt x="28472" y="60405"/>
                  </a:lnTo>
                  <a:lnTo>
                    <a:pt x="60432" y="28464"/>
                  </a:lnTo>
                  <a:lnTo>
                    <a:pt x="100982" y="7520"/>
                  </a:lnTo>
                  <a:lnTo>
                    <a:pt x="147700" y="0"/>
                  </a:lnTo>
                  <a:lnTo>
                    <a:pt x="157225" y="0"/>
                  </a:lnTo>
                  <a:lnTo>
                    <a:pt x="203882" y="7520"/>
                  </a:lnTo>
                  <a:lnTo>
                    <a:pt x="244394" y="28464"/>
                  </a:lnTo>
                  <a:lnTo>
                    <a:pt x="276335" y="60405"/>
                  </a:lnTo>
                  <a:lnTo>
                    <a:pt x="297279" y="100917"/>
                  </a:lnTo>
                  <a:lnTo>
                    <a:pt x="304800" y="147574"/>
                  </a:lnTo>
                  <a:lnTo>
                    <a:pt x="297279" y="194292"/>
                  </a:lnTo>
                  <a:lnTo>
                    <a:pt x="276335" y="234842"/>
                  </a:lnTo>
                  <a:lnTo>
                    <a:pt x="244394" y="266802"/>
                  </a:lnTo>
                  <a:lnTo>
                    <a:pt x="203882" y="287753"/>
                  </a:lnTo>
                  <a:lnTo>
                    <a:pt x="157225" y="295275"/>
                  </a:lnTo>
                  <a:lnTo>
                    <a:pt x="147700" y="295275"/>
                  </a:lnTo>
                  <a:lnTo>
                    <a:pt x="100982" y="287753"/>
                  </a:lnTo>
                  <a:lnTo>
                    <a:pt x="60432" y="266802"/>
                  </a:lnTo>
                  <a:lnTo>
                    <a:pt x="28472" y="234842"/>
                  </a:lnTo>
                  <a:lnTo>
                    <a:pt x="7521" y="194292"/>
                  </a:lnTo>
                  <a:lnTo>
                    <a:pt x="0" y="147574"/>
                  </a:lnTo>
                  <a:close/>
                </a:path>
              </a:pathLst>
            </a:custGeom>
            <a:ln w="22860">
              <a:solidFill>
                <a:srgbClr val="D642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97579" y="2492692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9245" y="3064210"/>
            <a:ext cx="1438275" cy="8921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800" dirty="0">
                <a:latin typeface="Times New Roman"/>
                <a:cs typeface="Times New Roman"/>
              </a:rPr>
              <a:t>Personalization</a:t>
            </a:r>
            <a:endParaRPr sz="1800">
              <a:latin typeface="Times New Roman"/>
              <a:cs typeface="Times New Roman"/>
            </a:endParaRPr>
          </a:p>
          <a:p>
            <a:pPr marL="85090" marR="74930" indent="1905" algn="ctr">
              <a:lnSpc>
                <a:spcPct val="102800"/>
              </a:lnSpc>
              <a:spcBef>
                <a:spcPts val="520"/>
              </a:spcBef>
            </a:pPr>
            <a:r>
              <a:rPr sz="1400" spc="-10" dirty="0">
                <a:latin typeface="Times New Roman"/>
                <a:cs typeface="Times New Roman"/>
              </a:rPr>
              <a:t>Tailored 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r</a:t>
            </a:r>
            <a:r>
              <a:rPr sz="1400" spc="50" dirty="0">
                <a:latin typeface="Times New Roman"/>
                <a:cs typeface="Times New Roman"/>
              </a:rPr>
              <a:t>e</a:t>
            </a:r>
            <a:r>
              <a:rPr sz="1400" spc="-25" dirty="0">
                <a:latin typeface="Times New Roman"/>
                <a:cs typeface="Times New Roman"/>
              </a:rPr>
              <a:t>c</a:t>
            </a:r>
            <a:r>
              <a:rPr sz="1400" spc="-30" dirty="0">
                <a:latin typeface="Times New Roman"/>
                <a:cs typeface="Times New Roman"/>
              </a:rPr>
              <a:t>o</a:t>
            </a:r>
            <a:r>
              <a:rPr sz="1400" spc="30" dirty="0">
                <a:latin typeface="Times New Roman"/>
                <a:cs typeface="Times New Roman"/>
              </a:rPr>
              <a:t>m</a:t>
            </a:r>
            <a:r>
              <a:rPr sz="1400" spc="-40" dirty="0">
                <a:latin typeface="Times New Roman"/>
                <a:cs typeface="Times New Roman"/>
              </a:rPr>
              <a:t>m</a:t>
            </a:r>
            <a:r>
              <a:rPr sz="1400" spc="50" dirty="0">
                <a:latin typeface="Times New Roman"/>
                <a:cs typeface="Times New Roman"/>
              </a:rPr>
              <a:t>e</a:t>
            </a:r>
            <a:r>
              <a:rPr sz="1400" spc="-30" dirty="0">
                <a:latin typeface="Times New Roman"/>
                <a:cs typeface="Times New Roman"/>
              </a:rPr>
              <a:t>nd</a:t>
            </a:r>
            <a:r>
              <a:rPr sz="1400" spc="5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ti</a:t>
            </a:r>
            <a:r>
              <a:rPr sz="1400" spc="-30" dirty="0">
                <a:latin typeface="Times New Roman"/>
                <a:cs typeface="Times New Roman"/>
              </a:rPr>
              <a:t>o</a:t>
            </a:r>
            <a:r>
              <a:rPr sz="1400" spc="40" dirty="0">
                <a:latin typeface="Times New Roman"/>
                <a:cs typeface="Times New Roman"/>
              </a:rPr>
              <a:t>n</a:t>
            </a:r>
            <a:r>
              <a:rPr sz="1400" spc="1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7170" y="3923347"/>
            <a:ext cx="1619250" cy="89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8255" algn="ctr">
              <a:lnSpc>
                <a:spcPct val="101299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based </a:t>
            </a:r>
            <a:r>
              <a:rPr sz="1400" spc="30" dirty="0">
                <a:latin typeface="Times New Roman"/>
                <a:cs typeface="Times New Roman"/>
              </a:rPr>
              <a:t>on </a:t>
            </a:r>
            <a:r>
              <a:rPr sz="1400" dirty="0">
                <a:latin typeface="Times New Roman"/>
                <a:cs typeface="Times New Roman"/>
              </a:rPr>
              <a:t>user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preferences </a:t>
            </a:r>
            <a:r>
              <a:rPr sz="1400" spc="10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past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purchases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enhance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the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experience.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17820" y="2484120"/>
            <a:ext cx="327660" cy="630555"/>
            <a:chOff x="5417820" y="2484120"/>
            <a:chExt cx="327660" cy="630555"/>
          </a:xfrm>
        </p:grpSpPr>
        <p:sp>
          <p:nvSpPr>
            <p:cNvPr id="19" name="object 19"/>
            <p:cNvSpPr/>
            <p:nvPr/>
          </p:nvSpPr>
          <p:spPr>
            <a:xfrm>
              <a:off x="5572125" y="2647950"/>
              <a:ext cx="19050" cy="466725"/>
            </a:xfrm>
            <a:custGeom>
              <a:avLst/>
              <a:gdLst/>
              <a:ahLst/>
              <a:cxnLst/>
              <a:rect l="l" t="t" r="r" b="b"/>
              <a:pathLst>
                <a:path w="19050" h="466725">
                  <a:moveTo>
                    <a:pt x="14732" y="0"/>
                  </a:moveTo>
                  <a:lnTo>
                    <a:pt x="4317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462407"/>
                  </a:lnTo>
                  <a:lnTo>
                    <a:pt x="4317" y="466725"/>
                  </a:lnTo>
                  <a:lnTo>
                    <a:pt x="14732" y="466725"/>
                  </a:lnTo>
                  <a:lnTo>
                    <a:pt x="19050" y="462407"/>
                  </a:lnTo>
                  <a:lnTo>
                    <a:pt x="19050" y="4317"/>
                  </a:lnTo>
                  <a:lnTo>
                    <a:pt x="14732" y="0"/>
                  </a:lnTo>
                  <a:close/>
                </a:path>
              </a:pathLst>
            </a:custGeom>
            <a:solidFill>
              <a:srgbClr val="DD7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29250" y="2495550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157225" y="0"/>
                  </a:moveTo>
                  <a:lnTo>
                    <a:pt x="147700" y="0"/>
                  </a:lnTo>
                  <a:lnTo>
                    <a:pt x="100982" y="7520"/>
                  </a:lnTo>
                  <a:lnTo>
                    <a:pt x="60432" y="28464"/>
                  </a:lnTo>
                  <a:lnTo>
                    <a:pt x="28472" y="60405"/>
                  </a:lnTo>
                  <a:lnTo>
                    <a:pt x="7521" y="100917"/>
                  </a:lnTo>
                  <a:lnTo>
                    <a:pt x="0" y="147574"/>
                  </a:lnTo>
                  <a:lnTo>
                    <a:pt x="7521" y="194292"/>
                  </a:lnTo>
                  <a:lnTo>
                    <a:pt x="28472" y="234842"/>
                  </a:lnTo>
                  <a:lnTo>
                    <a:pt x="60432" y="266802"/>
                  </a:lnTo>
                  <a:lnTo>
                    <a:pt x="100982" y="287753"/>
                  </a:lnTo>
                  <a:lnTo>
                    <a:pt x="147700" y="295275"/>
                  </a:lnTo>
                  <a:lnTo>
                    <a:pt x="157225" y="295275"/>
                  </a:lnTo>
                  <a:lnTo>
                    <a:pt x="203882" y="287753"/>
                  </a:lnTo>
                  <a:lnTo>
                    <a:pt x="244394" y="266802"/>
                  </a:lnTo>
                  <a:lnTo>
                    <a:pt x="276335" y="234842"/>
                  </a:lnTo>
                  <a:lnTo>
                    <a:pt x="297279" y="194292"/>
                  </a:lnTo>
                  <a:lnTo>
                    <a:pt x="304800" y="147574"/>
                  </a:lnTo>
                  <a:lnTo>
                    <a:pt x="297279" y="100917"/>
                  </a:lnTo>
                  <a:lnTo>
                    <a:pt x="276335" y="60405"/>
                  </a:lnTo>
                  <a:lnTo>
                    <a:pt x="244394" y="28464"/>
                  </a:lnTo>
                  <a:lnTo>
                    <a:pt x="203882" y="7520"/>
                  </a:lnTo>
                  <a:lnTo>
                    <a:pt x="157225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29250" y="2495550"/>
              <a:ext cx="304800" cy="295275"/>
            </a:xfrm>
            <a:custGeom>
              <a:avLst/>
              <a:gdLst/>
              <a:ahLst/>
              <a:cxnLst/>
              <a:rect l="l" t="t" r="r" b="b"/>
              <a:pathLst>
                <a:path w="304800" h="295275">
                  <a:moveTo>
                    <a:pt x="0" y="147574"/>
                  </a:moveTo>
                  <a:lnTo>
                    <a:pt x="7521" y="100917"/>
                  </a:lnTo>
                  <a:lnTo>
                    <a:pt x="28472" y="60405"/>
                  </a:lnTo>
                  <a:lnTo>
                    <a:pt x="60432" y="28464"/>
                  </a:lnTo>
                  <a:lnTo>
                    <a:pt x="100982" y="7520"/>
                  </a:lnTo>
                  <a:lnTo>
                    <a:pt x="147700" y="0"/>
                  </a:lnTo>
                  <a:lnTo>
                    <a:pt x="157225" y="0"/>
                  </a:lnTo>
                  <a:lnTo>
                    <a:pt x="203882" y="7520"/>
                  </a:lnTo>
                  <a:lnTo>
                    <a:pt x="244394" y="28464"/>
                  </a:lnTo>
                  <a:lnTo>
                    <a:pt x="276335" y="60405"/>
                  </a:lnTo>
                  <a:lnTo>
                    <a:pt x="297279" y="100917"/>
                  </a:lnTo>
                  <a:lnTo>
                    <a:pt x="304800" y="147574"/>
                  </a:lnTo>
                  <a:lnTo>
                    <a:pt x="297279" y="194292"/>
                  </a:lnTo>
                  <a:lnTo>
                    <a:pt x="276335" y="234842"/>
                  </a:lnTo>
                  <a:lnTo>
                    <a:pt x="244394" y="266802"/>
                  </a:lnTo>
                  <a:lnTo>
                    <a:pt x="203882" y="287753"/>
                  </a:lnTo>
                  <a:lnTo>
                    <a:pt x="157225" y="295275"/>
                  </a:lnTo>
                  <a:lnTo>
                    <a:pt x="147700" y="295275"/>
                  </a:lnTo>
                  <a:lnTo>
                    <a:pt x="100982" y="287753"/>
                  </a:lnTo>
                  <a:lnTo>
                    <a:pt x="60432" y="266802"/>
                  </a:lnTo>
                  <a:lnTo>
                    <a:pt x="28472" y="234842"/>
                  </a:lnTo>
                  <a:lnTo>
                    <a:pt x="7521" y="194292"/>
                  </a:lnTo>
                  <a:lnTo>
                    <a:pt x="0" y="147574"/>
                  </a:lnTo>
                  <a:close/>
                </a:path>
              </a:pathLst>
            </a:custGeom>
            <a:ln w="22860">
              <a:solidFill>
                <a:srgbClr val="DD78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16879" y="2492692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5478" y="3064210"/>
            <a:ext cx="1219835" cy="8921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1800" spc="-5" dirty="0">
                <a:latin typeface="Times New Roman"/>
                <a:cs typeface="Times New Roman"/>
              </a:rPr>
              <a:t>Accessibility</a:t>
            </a:r>
            <a:endParaRPr sz="1800">
              <a:latin typeface="Times New Roman"/>
              <a:cs typeface="Times New Roman"/>
            </a:endParaRPr>
          </a:p>
          <a:p>
            <a:pPr marL="19050" marR="5080" algn="ctr">
              <a:lnSpc>
                <a:spcPct val="102800"/>
              </a:lnSpc>
              <a:spcBef>
                <a:spcPts val="520"/>
              </a:spcBef>
            </a:pPr>
            <a:r>
              <a:rPr sz="1400" dirty="0">
                <a:latin typeface="Times New Roman"/>
                <a:cs typeface="Times New Roman"/>
              </a:rPr>
              <a:t>Easy-to-use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interfaces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are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71390" y="3923347"/>
            <a:ext cx="1627505" cy="89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985" algn="ctr">
              <a:lnSpc>
                <a:spcPct val="101299"/>
              </a:lnSpc>
              <a:spcBef>
                <a:spcPts val="105"/>
              </a:spcBef>
            </a:pPr>
            <a:r>
              <a:rPr sz="1400" spc="5" dirty="0">
                <a:latin typeface="Times New Roman"/>
                <a:cs typeface="Times New Roman"/>
              </a:rPr>
              <a:t>accessible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10" dirty="0">
                <a:latin typeface="Times New Roman"/>
                <a:cs typeface="Times New Roman"/>
              </a:rPr>
              <a:t>a </a:t>
            </a:r>
            <a:r>
              <a:rPr sz="1400" dirty="0">
                <a:latin typeface="Times New Roman"/>
                <a:cs typeface="Times New Roman"/>
              </a:rPr>
              <a:t>wide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range </a:t>
            </a:r>
            <a:r>
              <a:rPr sz="1400" spc="25" dirty="0">
                <a:latin typeface="Times New Roman"/>
                <a:cs typeface="Times New Roman"/>
              </a:rPr>
              <a:t>of </a:t>
            </a:r>
            <a:r>
              <a:rPr sz="1400" spc="5" dirty="0">
                <a:latin typeface="Times New Roman"/>
                <a:cs typeface="Times New Roman"/>
              </a:rPr>
              <a:t>users, 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regardless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technical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skills.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37119" y="2484120"/>
            <a:ext cx="318135" cy="630555"/>
            <a:chOff x="7437119" y="2484120"/>
            <a:chExt cx="318135" cy="630555"/>
          </a:xfrm>
        </p:grpSpPr>
        <p:sp>
          <p:nvSpPr>
            <p:cNvPr id="26" name="object 26"/>
            <p:cNvSpPr/>
            <p:nvPr/>
          </p:nvSpPr>
          <p:spPr>
            <a:xfrm>
              <a:off x="7591424" y="2647950"/>
              <a:ext cx="19050" cy="466725"/>
            </a:xfrm>
            <a:custGeom>
              <a:avLst/>
              <a:gdLst/>
              <a:ahLst/>
              <a:cxnLst/>
              <a:rect l="l" t="t" r="r" b="b"/>
              <a:pathLst>
                <a:path w="19050" h="466725">
                  <a:moveTo>
                    <a:pt x="14731" y="0"/>
                  </a:moveTo>
                  <a:lnTo>
                    <a:pt x="4318" y="0"/>
                  </a:lnTo>
                  <a:lnTo>
                    <a:pt x="0" y="4317"/>
                  </a:lnTo>
                  <a:lnTo>
                    <a:pt x="0" y="9525"/>
                  </a:lnTo>
                  <a:lnTo>
                    <a:pt x="0" y="462407"/>
                  </a:lnTo>
                  <a:lnTo>
                    <a:pt x="4318" y="466725"/>
                  </a:lnTo>
                  <a:lnTo>
                    <a:pt x="14731" y="466725"/>
                  </a:lnTo>
                  <a:lnTo>
                    <a:pt x="19050" y="462407"/>
                  </a:lnTo>
                  <a:lnTo>
                    <a:pt x="19050" y="4317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47A8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48549" y="2495550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700" y="0"/>
                  </a:moveTo>
                  <a:lnTo>
                    <a:pt x="100982" y="7520"/>
                  </a:lnTo>
                  <a:lnTo>
                    <a:pt x="60432" y="28464"/>
                  </a:lnTo>
                  <a:lnTo>
                    <a:pt x="28472" y="60405"/>
                  </a:lnTo>
                  <a:lnTo>
                    <a:pt x="7521" y="100917"/>
                  </a:lnTo>
                  <a:lnTo>
                    <a:pt x="0" y="147574"/>
                  </a:lnTo>
                  <a:lnTo>
                    <a:pt x="7521" y="194292"/>
                  </a:lnTo>
                  <a:lnTo>
                    <a:pt x="28472" y="234842"/>
                  </a:lnTo>
                  <a:lnTo>
                    <a:pt x="60432" y="266802"/>
                  </a:lnTo>
                  <a:lnTo>
                    <a:pt x="100982" y="287753"/>
                  </a:lnTo>
                  <a:lnTo>
                    <a:pt x="147700" y="295275"/>
                  </a:lnTo>
                  <a:lnTo>
                    <a:pt x="194357" y="287753"/>
                  </a:lnTo>
                  <a:lnTo>
                    <a:pt x="234869" y="266802"/>
                  </a:lnTo>
                  <a:lnTo>
                    <a:pt x="266810" y="234842"/>
                  </a:lnTo>
                  <a:lnTo>
                    <a:pt x="287754" y="194292"/>
                  </a:lnTo>
                  <a:lnTo>
                    <a:pt x="295275" y="147574"/>
                  </a:lnTo>
                  <a:lnTo>
                    <a:pt x="287754" y="100917"/>
                  </a:lnTo>
                  <a:lnTo>
                    <a:pt x="266810" y="60405"/>
                  </a:lnTo>
                  <a:lnTo>
                    <a:pt x="234869" y="28464"/>
                  </a:lnTo>
                  <a:lnTo>
                    <a:pt x="194357" y="7520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0000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48549" y="2495550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0" y="147574"/>
                  </a:moveTo>
                  <a:lnTo>
                    <a:pt x="7521" y="100917"/>
                  </a:lnTo>
                  <a:lnTo>
                    <a:pt x="28472" y="60405"/>
                  </a:lnTo>
                  <a:lnTo>
                    <a:pt x="60432" y="28464"/>
                  </a:lnTo>
                  <a:lnTo>
                    <a:pt x="100982" y="7520"/>
                  </a:lnTo>
                  <a:lnTo>
                    <a:pt x="147700" y="0"/>
                  </a:lnTo>
                  <a:lnTo>
                    <a:pt x="194357" y="7520"/>
                  </a:lnTo>
                  <a:lnTo>
                    <a:pt x="234869" y="28464"/>
                  </a:lnTo>
                  <a:lnTo>
                    <a:pt x="266810" y="60405"/>
                  </a:lnTo>
                  <a:lnTo>
                    <a:pt x="287754" y="100917"/>
                  </a:lnTo>
                  <a:lnTo>
                    <a:pt x="295275" y="147574"/>
                  </a:lnTo>
                  <a:lnTo>
                    <a:pt x="287754" y="194292"/>
                  </a:lnTo>
                  <a:lnTo>
                    <a:pt x="266810" y="234842"/>
                  </a:lnTo>
                  <a:lnTo>
                    <a:pt x="234869" y="266802"/>
                  </a:lnTo>
                  <a:lnTo>
                    <a:pt x="194357" y="287753"/>
                  </a:lnTo>
                  <a:lnTo>
                    <a:pt x="147700" y="295275"/>
                  </a:lnTo>
                  <a:lnTo>
                    <a:pt x="100982" y="287753"/>
                  </a:lnTo>
                  <a:lnTo>
                    <a:pt x="60432" y="266802"/>
                  </a:lnTo>
                  <a:lnTo>
                    <a:pt x="28472" y="234842"/>
                  </a:lnTo>
                  <a:lnTo>
                    <a:pt x="7521" y="194292"/>
                  </a:lnTo>
                  <a:lnTo>
                    <a:pt x="0" y="147574"/>
                  </a:lnTo>
                  <a:close/>
                </a:path>
              </a:pathLst>
            </a:custGeom>
            <a:ln w="22860">
              <a:solidFill>
                <a:srgbClr val="47A8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535926" y="2492692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4350" y="3064210"/>
            <a:ext cx="1475740" cy="8921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85"/>
              </a:spcBef>
            </a:pPr>
            <a:r>
              <a:rPr sz="1800" spc="-10" dirty="0">
                <a:latin typeface="Times New Roman"/>
                <a:cs typeface="Times New Roman"/>
              </a:rPr>
              <a:t>Cost</a:t>
            </a:r>
            <a:r>
              <a:rPr sz="1800" dirty="0">
                <a:latin typeface="Times New Roman"/>
                <a:cs typeface="Times New Roman"/>
              </a:rPr>
              <a:t> Savings</a:t>
            </a:r>
            <a:endParaRPr sz="1800">
              <a:latin typeface="Times New Roman"/>
              <a:cs typeface="Times New Roman"/>
            </a:endParaRPr>
          </a:p>
          <a:p>
            <a:pPr marL="12700" marR="5080" indent="5715" algn="ctr">
              <a:lnSpc>
                <a:spcPct val="102800"/>
              </a:lnSpc>
              <a:spcBef>
                <a:spcPts val="520"/>
              </a:spcBef>
            </a:pPr>
            <a:r>
              <a:rPr sz="1400" dirty="0">
                <a:latin typeface="Times New Roman"/>
                <a:cs typeface="Times New Roman"/>
              </a:rPr>
              <a:t>Automation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reduces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operational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costs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for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90791" y="3923347"/>
            <a:ext cx="1023619" cy="89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" algn="ctr">
              <a:lnSpc>
                <a:spcPct val="101299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ticketing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o</a:t>
            </a:r>
            <a:r>
              <a:rPr sz="1400" spc="-25" dirty="0">
                <a:latin typeface="Times New Roman"/>
                <a:cs typeface="Times New Roman"/>
              </a:rPr>
              <a:t>r</a:t>
            </a:r>
            <a:r>
              <a:rPr sz="1400" spc="-30" dirty="0">
                <a:latin typeface="Times New Roman"/>
                <a:cs typeface="Times New Roman"/>
              </a:rPr>
              <a:t>g</a:t>
            </a:r>
            <a:r>
              <a:rPr sz="1400" spc="5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-20" dirty="0">
                <a:latin typeface="Times New Roman"/>
                <a:cs typeface="Times New Roman"/>
              </a:rPr>
              <a:t>i</a:t>
            </a:r>
            <a:r>
              <a:rPr sz="1400" spc="50" dirty="0">
                <a:latin typeface="Times New Roman"/>
                <a:cs typeface="Times New Roman"/>
              </a:rPr>
              <a:t>z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ti</a:t>
            </a:r>
            <a:r>
              <a:rPr sz="1400" spc="45" dirty="0">
                <a:latin typeface="Times New Roman"/>
                <a:cs typeface="Times New Roman"/>
              </a:rPr>
              <a:t>o</a:t>
            </a:r>
            <a:r>
              <a:rPr sz="1400" spc="-30" dirty="0">
                <a:latin typeface="Times New Roman"/>
                <a:cs typeface="Times New Roman"/>
              </a:rPr>
              <a:t>n</a:t>
            </a:r>
            <a:r>
              <a:rPr sz="1400" spc="-20" dirty="0">
                <a:latin typeface="Times New Roman"/>
                <a:cs typeface="Times New Roman"/>
              </a:rPr>
              <a:t>s</a:t>
            </a:r>
            <a:r>
              <a:rPr sz="1400" spc="5" dirty="0">
                <a:latin typeface="Times New Roman"/>
                <a:cs typeface="Times New Roman"/>
              </a:rPr>
              <a:t>,  </a:t>
            </a:r>
            <a:r>
              <a:rPr sz="1400" spc="-5" dirty="0">
                <a:latin typeface="Times New Roman"/>
                <a:cs typeface="Times New Roman"/>
              </a:rPr>
              <a:t>improving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profitability.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45351" y="6142037"/>
            <a:ext cx="1397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559" y="533400"/>
            <a:ext cx="1828164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-90" dirty="0">
                <a:solidFill>
                  <a:schemeClr val="accent3"/>
                </a:solidFill>
                <a:latin typeface="Lucida Sans Unicode"/>
                <a:cs typeface="Lucida Sans Unicode"/>
              </a:rPr>
              <a:t>References</a:t>
            </a:r>
            <a:endParaRPr sz="2850" dirty="0">
              <a:solidFill>
                <a:schemeClr val="accent3"/>
              </a:solidFill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64304" y="2106929"/>
            <a:ext cx="4644390" cy="3329940"/>
            <a:chOff x="3964304" y="2106929"/>
            <a:chExt cx="4644390" cy="3329940"/>
          </a:xfrm>
        </p:grpSpPr>
        <p:sp>
          <p:nvSpPr>
            <p:cNvPr id="4" name="object 4"/>
            <p:cNvSpPr/>
            <p:nvPr/>
          </p:nvSpPr>
          <p:spPr>
            <a:xfrm>
              <a:off x="3971924" y="2114549"/>
              <a:ext cx="4629150" cy="3314700"/>
            </a:xfrm>
            <a:custGeom>
              <a:avLst/>
              <a:gdLst/>
              <a:ahLst/>
              <a:cxnLst/>
              <a:rect l="l" t="t" r="r" b="b"/>
              <a:pathLst>
                <a:path w="4629150" h="3314700">
                  <a:moveTo>
                    <a:pt x="0" y="231139"/>
                  </a:moveTo>
                  <a:lnTo>
                    <a:pt x="4696" y="184562"/>
                  </a:lnTo>
                  <a:lnTo>
                    <a:pt x="18166" y="141178"/>
                  </a:lnTo>
                  <a:lnTo>
                    <a:pt x="39480" y="101916"/>
                  </a:lnTo>
                  <a:lnTo>
                    <a:pt x="67706" y="67706"/>
                  </a:lnTo>
                  <a:lnTo>
                    <a:pt x="101916" y="39480"/>
                  </a:lnTo>
                  <a:lnTo>
                    <a:pt x="141178" y="18166"/>
                  </a:lnTo>
                  <a:lnTo>
                    <a:pt x="184562" y="4696"/>
                  </a:lnTo>
                  <a:lnTo>
                    <a:pt x="231139" y="0"/>
                  </a:lnTo>
                  <a:lnTo>
                    <a:pt x="4398009" y="0"/>
                  </a:lnTo>
                  <a:lnTo>
                    <a:pt x="4444587" y="4696"/>
                  </a:lnTo>
                  <a:lnTo>
                    <a:pt x="4487971" y="18166"/>
                  </a:lnTo>
                  <a:lnTo>
                    <a:pt x="4527233" y="39480"/>
                  </a:lnTo>
                  <a:lnTo>
                    <a:pt x="4561443" y="67706"/>
                  </a:lnTo>
                  <a:lnTo>
                    <a:pt x="4589669" y="101916"/>
                  </a:lnTo>
                  <a:lnTo>
                    <a:pt x="4610983" y="141178"/>
                  </a:lnTo>
                  <a:lnTo>
                    <a:pt x="4624453" y="184562"/>
                  </a:lnTo>
                  <a:lnTo>
                    <a:pt x="4629150" y="231139"/>
                  </a:lnTo>
                  <a:lnTo>
                    <a:pt x="4629150" y="3083560"/>
                  </a:lnTo>
                  <a:lnTo>
                    <a:pt x="4624453" y="3130137"/>
                  </a:lnTo>
                  <a:lnTo>
                    <a:pt x="4610983" y="3173521"/>
                  </a:lnTo>
                  <a:lnTo>
                    <a:pt x="4589669" y="3212783"/>
                  </a:lnTo>
                  <a:lnTo>
                    <a:pt x="4561443" y="3246993"/>
                  </a:lnTo>
                  <a:lnTo>
                    <a:pt x="4527233" y="3275219"/>
                  </a:lnTo>
                  <a:lnTo>
                    <a:pt x="4487971" y="3296533"/>
                  </a:lnTo>
                  <a:lnTo>
                    <a:pt x="4444587" y="3310003"/>
                  </a:lnTo>
                  <a:lnTo>
                    <a:pt x="4398009" y="3314700"/>
                  </a:lnTo>
                  <a:lnTo>
                    <a:pt x="231139" y="3314700"/>
                  </a:lnTo>
                  <a:lnTo>
                    <a:pt x="184562" y="3310003"/>
                  </a:lnTo>
                  <a:lnTo>
                    <a:pt x="141178" y="3296533"/>
                  </a:lnTo>
                  <a:lnTo>
                    <a:pt x="101916" y="3275219"/>
                  </a:lnTo>
                  <a:lnTo>
                    <a:pt x="67706" y="3246993"/>
                  </a:lnTo>
                  <a:lnTo>
                    <a:pt x="39480" y="3212783"/>
                  </a:lnTo>
                  <a:lnTo>
                    <a:pt x="18166" y="3173521"/>
                  </a:lnTo>
                  <a:lnTo>
                    <a:pt x="4696" y="3130137"/>
                  </a:lnTo>
                  <a:lnTo>
                    <a:pt x="0" y="3083560"/>
                  </a:lnTo>
                  <a:lnTo>
                    <a:pt x="0" y="231139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81450" y="2124074"/>
              <a:ext cx="4610100" cy="3295650"/>
            </a:xfrm>
            <a:custGeom>
              <a:avLst/>
              <a:gdLst/>
              <a:ahLst/>
              <a:cxnLst/>
              <a:rect l="l" t="t" r="r" b="b"/>
              <a:pathLst>
                <a:path w="4610100" h="3295650">
                  <a:moveTo>
                    <a:pt x="4610100" y="2362200"/>
                  </a:moveTo>
                  <a:lnTo>
                    <a:pt x="0" y="2362200"/>
                  </a:lnTo>
                  <a:lnTo>
                    <a:pt x="0" y="3295650"/>
                  </a:lnTo>
                  <a:lnTo>
                    <a:pt x="4610100" y="3295650"/>
                  </a:lnTo>
                  <a:lnTo>
                    <a:pt x="4610100" y="2362200"/>
                  </a:lnTo>
                  <a:close/>
                </a:path>
                <a:path w="4610100" h="3295650">
                  <a:moveTo>
                    <a:pt x="4610100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4610100" y="11811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45351" y="6142037"/>
            <a:ext cx="1397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763905" y="1203007"/>
            <a:ext cx="7739380" cy="5151988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b="1" spc="25" dirty="0"/>
              <a:t>1. Chatbot Frameworks and Architecture: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Paper Title: "A Survey on Chatbot Implementation in Customer Support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Systems"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Authors: Abdellatif El </a:t>
            </a:r>
            <a:r>
              <a:rPr lang="en-IN" spc="25" dirty="0" err="1"/>
              <a:t>Meslouhi</a:t>
            </a:r>
            <a:r>
              <a:rPr lang="en-IN" spc="25" dirty="0"/>
              <a:t>, Mohamed </a:t>
            </a:r>
            <a:r>
              <a:rPr lang="en-IN" spc="25" dirty="0" err="1"/>
              <a:t>Khamlichi</a:t>
            </a:r>
            <a:r>
              <a:rPr lang="en-IN" spc="25" dirty="0"/>
              <a:t>, Mohamed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 err="1"/>
              <a:t>Abderrahim</a:t>
            </a:r>
            <a:r>
              <a:rPr lang="en-IN" spc="25" dirty="0"/>
              <a:t>.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b="1" spc="25" dirty="0"/>
              <a:t>2. Natural Language Processing (NLP) for Ticket Classification: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Paper Title: "Automating IT Support Ticket Categorization with Machine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Learning"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Authors: Chirag Patel, Rakesh Sharma, and Seema Shah.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b="1" spc="25" dirty="0"/>
              <a:t>3. End-to-End Chatbot Design for Customer Service: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Paper Title: "End-to-End Framework for Building Conversational Agents for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Customer Support"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Authors: Karthik Ramesh, Nikhil Choudhary.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b="1" spc="25" dirty="0"/>
              <a:t>4. Integration of Chatbots in Business Processes: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Paper Title: "Chatbots in Business Processes: A Case Study on Ticketing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Systems" </a:t>
            </a:r>
          </a:p>
          <a:p>
            <a:pPr marL="12700" marR="5080">
              <a:lnSpc>
                <a:spcPct val="103000"/>
              </a:lnSpc>
              <a:spcBef>
                <a:spcPts val="70"/>
              </a:spcBef>
              <a:tabLst>
                <a:tab pos="298450" algn="l"/>
              </a:tabLst>
            </a:pPr>
            <a:r>
              <a:rPr lang="en-IN" spc="25" dirty="0"/>
              <a:t>Authors: Marco Pichler, Josef Dorn, and Astrid </a:t>
            </a:r>
            <a:r>
              <a:rPr lang="en-IN" spc="25" dirty="0" err="1"/>
              <a:t>Böhm</a:t>
            </a:r>
            <a:r>
              <a:rPr lang="en-IN" spc="25" dirty="0"/>
              <a:t>.</a:t>
            </a:r>
            <a:endParaRPr spc="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Thank</a:t>
            </a:r>
            <a:r>
              <a:rPr spc="-75" dirty="0"/>
              <a:t> </a:t>
            </a:r>
            <a:r>
              <a:rPr dirty="0"/>
              <a:t>you!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04076" y="6119177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1002</Words>
  <Application>Microsoft Office PowerPoint</Application>
  <PresentationFormat>On-screen Show (4:3)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Lucida Sans Unicode</vt:lpstr>
      <vt:lpstr>Tahoma</vt:lpstr>
      <vt:lpstr>Times New Roman</vt:lpstr>
      <vt:lpstr>Trebuchet MS</vt:lpstr>
      <vt:lpstr>Wingdings</vt:lpstr>
      <vt:lpstr>Office Theme</vt:lpstr>
      <vt:lpstr>PowerPoint Presentation</vt:lpstr>
      <vt:lpstr>Presentation Outline</vt:lpstr>
      <vt:lpstr>PowerPoint Presentation</vt:lpstr>
      <vt:lpstr>Introduction (Cont’d…..)</vt:lpstr>
      <vt:lpstr>Literature Survey</vt:lpstr>
      <vt:lpstr>PowerPoint Presentation</vt:lpstr>
      <vt:lpstr>Methodology</vt:lpstr>
      <vt:lpstr>Block Diagram</vt:lpstr>
      <vt:lpstr>Schematic -</vt:lpstr>
      <vt:lpstr>Flowchart / Algorithm</vt:lpstr>
      <vt:lpstr>Applications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Tanmay Nagawade</cp:lastModifiedBy>
  <cp:revision>2</cp:revision>
  <dcterms:created xsi:type="dcterms:W3CDTF">2024-12-04T13:59:09Z</dcterms:created>
  <dcterms:modified xsi:type="dcterms:W3CDTF">2025-02-27T09:02:01Z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2024-12-04T00:00:00Z</vt:filetime>
  </property>
  <property fmtid="{D5CDD505-2E9C-101B-9397-08002B2CF9AE}" pid="3" name="LastSaved">
    <vt:filetime>2024-12-04T00:00:00Z</vt:filetime>
  </property>
</Properties>
</file>